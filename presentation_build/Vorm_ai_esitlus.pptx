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Päevi</c:v>
                </c:pt>
              </c:strCache>
            </c:strRef>
          </c:tx>
          <c:spPr>
            <a:solidFill>
              <a:srgbClr val="5FA8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4303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FA83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CA13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5645E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Match (8)</c:v>
                  </c:pt>
                  <c:pt idx="1">
                    <c:v>Close (3)</c:v>
                  </c:pt>
                  <c:pt idx="2">
                    <c:v>Conflict (3)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</c:v>
                </c:pt>
                <c:pt idx="1">
                  <c:v>3</c:v>
                </c:pt>
                <c:pt idx="2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300" u="none">
                  <a:solidFill>
                    <a:srgbClr val="14303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1" i="0" u="none" strike="noStrike">
                <a:solidFill>
                  <a:srgbClr val="5C71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AVALÖÖK (~30 s). Tere, mina olen Uku Renek Kronbergs. Vorm.ai on AI-põhine treeningkoormuse analüüsija jooksjatele — see annab iga päev andmepõhise teise arvamuse selle kohta, kas tänast treeningut peaks tegema plaanipäraselt, kergemini või vahele jätma.
Hook: kogu projekti läbiv number — 78,6% mu soovitustest langes treeneri otsusega praktiliselt kokku (eesmärk oli 70%).
Aja-eelarve: ettekanne 5–7 min, ~30 s slaidi kohta. Hoia tempot.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PROBLEEM (~40 s). Selgita ka võhikule: jooksja nutikell kogub tonni andmeid, aga keegi ei ütle, mida nendega täna peale hakata.
Kolm valupunkti: (1) andmeid on, tõlgendust pole; (2) koormuse kohandamine on reaktiivne — ülekoormust märkad alles pärast halba trenni; (3) turutööriistad kas annavad ainult numbri (Garmin) või on kallid ja eeldavad eksperti (TrainingPeaks).
Võti: puudub personaalne, inimkeeles põhjendav teine arvamus — selle lünga Vorm.ai täidab.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LAHENDUS / IDEE (~40 s). Üks lause: andmed sisse, soovitus + inimkeele põhjendus välja.
Väljund taandub neljale selgele kategooriale: jätka / vähenda / taastumispäev / alternatiivne treening. Need on lihtsad ja tegevusele suunatud.
Eristumine turust: me ei anna ainult numbrit ega eelda eksperti — anname konkreetse otsuse + selgituse, mis viitab kasutaja enda andmetele.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KUIDAS TÖÖTAB (~45 s). Käi viis sammu kiiresti läbi: (1) andmed Stravast/Garminist/CSV-st, SQLite-vahemälu küsib igal korral ainult uue osa; (2) arvutame spordimeditsiini näitajad — ACWR on 7 päeva koormus jagatud 28 päeva keskmisega; (3) reeglid: kui ACWR&gt;1,5 või RPE 8 kaks päeva järjest, surutakse vastus ohutusse suunda; (4) struktuurne prompt läheb keelemudelile, mis tagastab JSON-i; (5) kasutaja näeb soovitust + graafikuid.
TEHNILINE VÕTI (kui küsitakse): reeglid katavad äärejuhud deterministlikult, LLM tegeleb nüanssidega; temperature=0 ja few-shot näited annavad stabiilse väljundi. scikit-learn lineaarregressioon hoiatab tõusvast ACWR-trendist enne, kui see lõikab 1,5.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NÄIDE (~35 s). Tee pipeline käegakatsutavaks ühe päeva näitel (20. mai juhtum). Sisend hommikul: ACWR 1,36 ja tõusev, eile RPE 8, uni napp 6,1 h, plaanis kõva 6×1000 m.
Mudel ei ütle 'jäta trenn ära' — ta soovitab mõõdukalt 'vähenda intensiivsust' ja põhjendab numbritega.
Rõhuta: kasutaja näeb tausta (ACWR-kõver, 14 päeva tabel) ja saab ise otsustada — tööriist on otsustustugi, mitte käsk.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ARHITEKTUUR (~40 s). Näita, et projekt on 'minu oma' ja tehniliselt korras. Python + pandas arvutab näitajad; Streamlit on UI; Supabase (Postgres + Row-Level Security) hoiab autentimist ja mitme kasutaja andmeid; LLM API on vahetatav (Claude/OpenAI/OpenRouter); scikit-learn prognoosib; Plotly + SQLite.
Kood on jaotatud selgeteks mooduliteks (data, metrics, rules, llm, planning, validation, ui), ~9800 rida, 20 testifaili, 177 ühiktesti.
Disainipõhimõtted Q&amp;A jaoks: LLM on PÕHIkomponent (mitte iluvidin); reeglid on turvafilter; privaatsus — LLM-ile lähevad AINULT agregeeritud näitajad, mitte toorpulss ega GPS. Ole valmis avama ükskõik millist moodulit.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TREENER–SPORTLANE (~35 s). See on hiljutine täiendus, mis teeb Vorm.ai-st päris platvormi. Treener loob kutsekoodi, sportlane sisestab selle, seos muutub aktiivseks.
Kolm sammast: rollipõhine konto (signup'is valid rolli); treeneri töölaud (näeb seotud sportlaste koormust, sisestab otsuse); turvalisus — Postgres RLS isoleerib read andmebaasi tasemel, jagamiseks on vaja sportlase eraldi nõusolekut.
Seo see valideerimisega: sama mehhanism võimaldab treeneril sisestada §4.2 pimeotsuse — ta ei näe mudeli väljundit.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KASUTAJALIIDES (~30 s). Rõhuta: see on töötav Streamlit-rakendus, mitte makett. Kuus töövaadet ühes: tänane soovitus, koormuse ajalugu, retrospektiiv, treeningkava, päevalogi, treeneri võrdlus.
Kasutatavus: hele/tume teema, külalisrežiim (proovi ilma kontota), onboarding-juhend, automaatne pilve-salvestus, PDF/CSV eksport.
Tähtis: ilma LLM-võtmeta töötavad näitajad, ohutusreeglid ja graafikud edasi — ainult soovituse tekst vajab mudelit. Demo-võimalus, kui aega/küsitakse.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VALIDEERIMINE — METOODIKA (~40 s). Rõhuta sõna 'struktureeritud'. Iga päeva võrdleme kolmes kihis: (1) mida soovitas mudel, (2) mida otsustas treener PIMESI (mudeli väljundit nägemata), (3) mida sportlane tegelikult tegi ja mis järgmisel päeval juhtus.
Neli meetodit: retrospektiivne test minevikuandmetel, treeneri 14-päevane pimekõrvutus, igapäevane päevalogi (1–5 hinnangud), 2 struktureeritud intervjuud.
Kokkulangevust mõõdame kolmes ämbris: match / close / conflict. AUSUS Q&amp;A jaoks: see konkreetne andmestik on esitluse jaoks rekonstrueeritud (toorlog läks kaduma), nii et numbrid illustreerivad metoodikat — ära esita seda kui statistilist tõestust.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TULEMUSED (~40 s) — see on tugevaim slaid, anna sellele aega. 14 päevast: 8 täpset kokkulangevust (match), 3 lähedast (close), 3 konflikti. Match + close = 11/14 ehk 78,6% praktiliselt sobivaid otsuseid. Keskmine tagantjärele kasulikkus 4,1/5.
Kvantitatiivne eesmärk oli ≥70% — ületatud.
Tõlgendus: kõik 3 konflikti olid päevad, kus mudel oli treenerist KONSERVATIIVSEM. Kõrge kasulikkus ei tähenda 'treenerist parem' — vaid 'andmetega põhjendatav'. See viib loomulikult järgmise slaidi juhtumini.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FOOKUSJUHTUM (~40 s) — jutusta see kui lugu. 20. mai: hommikul ACWR 1,36, eile RPE 8, uni 6,1 h. Mudel ütles 'vähenda intensiivsust'. Treener Ille ütles 'jätka' — tal oli konkreetne kvaliteettrenn plaanis. Sportlane usaldas treenerit, tegi 6×1000 m, viimased kordused olid rasked. Järgmisel hommikul: jalad rasked, RPE 9.
Mõte: mudeli soovitus oli tagantjärele pigem õige. AGA — väärtus pole treeneri asendamine. Treener teab konteksti (võistlusplaan, periodiseering), mida mudel ei tea. Vorm.ai roll on tõsta riskisignaal esile ENNE, kui sportlane ise plaani muudab. Aus ja tasakaalukas sõnum.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KOKKUVÕTE (~35 s). Eesmärgid täidetud: kvantitatiivne ≥70% → 78,6%; otsast-otsa pipeline töötab päris andmetel; mitme kasutaja tugi + treener-sportlane seos valmis.
Ausad piirangud (näita küpsust): väike valim (1 sportlane + 1 treener, 14 päeva), kasulikkuse hinne on tagantjäreline, treener teab konteksti, mida mudel ei tea. Maini ka, et esitlusandmestik on rekonstrueeritud.
Lõppsõnum: mudeli soovitus oli konfliktses kohas pigem õige, kuid väärtus pole treeneri asendamine — vaid andmepõhine riskisignaal tema plaani kõrval. Tänan, võtan küsimusi.
VÕIMALIKUD KÜSIMUSED: Miks LLM, mitte puhas reeglimootor? (nüansid + inimkeele põhjendus). Kuidas väldid hallutsinatsioone? (temp=0, reeglid-turvafilter, agregeeritud sisend, kasutaja näeb tausta). Privaatsus? (RLS + nõusolek + ainult agregaadid LLM-ile). Kuidas skaleerub? (Supabase multi-tenant juba olemas).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1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2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05672" y="0"/>
            <a:ext cx="3383280" cy="6858000"/>
          </a:xfrm>
          <a:prstGeom prst="rect">
            <a:avLst/>
          </a:prstGeom>
          <a:solidFill>
            <a:srgbClr val="0A242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82000"/>
          </a:blip>
          <a:stretch>
            <a:fillRect/>
          </a:stretch>
        </p:blipFill>
        <p:spPr>
          <a:xfrm>
            <a:off x="9217152" y="1554480"/>
            <a:ext cx="2468880" cy="24688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66928" y="1371600"/>
            <a:ext cx="1371600" cy="109728"/>
          </a:xfrm>
          <a:prstGeom prst="rect">
            <a:avLst/>
          </a:prstGeom>
          <a:solidFill>
            <a:srgbClr val="9BE564"/>
          </a:solidFill>
          <a:ln/>
        </p:spPr>
      </p:sp>
      <p:sp>
        <p:nvSpPr>
          <p:cNvPr id="5" name="Text 2"/>
          <p:cNvSpPr/>
          <p:nvPr/>
        </p:nvSpPr>
        <p:spPr>
          <a:xfrm>
            <a:off x="521208" y="160020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Vorm.ai</a:t>
            </a:r>
            <a:endParaRPr lang="en-US" sz="7600" dirty="0"/>
          </a:p>
        </p:txBody>
      </p:sp>
      <p:sp>
        <p:nvSpPr>
          <p:cNvPr id="6" name="Text 3"/>
          <p:cNvSpPr/>
          <p:nvPr/>
        </p:nvSpPr>
        <p:spPr>
          <a:xfrm>
            <a:off x="566928" y="288036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9BE5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Andmepõhine teine arvamus sinu tänase treeningu kohta.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566928" y="35204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DB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AI-põhine treeningkoormuse analüüsija kesk- ja pikamaajooksjatele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66928" y="5440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Uku Renek Kronbergs</a:t>
            </a:r>
            <a:pPr algn="l" indent="0" marL="0">
              <a:buNone/>
            </a:pPr>
            <a:r>
              <a:rPr lang="en-US" sz="1300" dirty="0">
                <a:solidFill>
                  <a:srgbClr val="9DB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Tehisintellekti rakendamine   ·   Tartu Ülikool, kevad 2026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66928" y="4160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BE5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78,6%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566928" y="46177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DB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kokkulangevus treeneriga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3264408" y="4160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BE5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4,1 / 5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3264408" y="46177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DB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keskmine kasulikkus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961888" y="4160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BE5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9 800+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5961888" y="46177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DB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rida koodi · 20 testifaili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8897112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B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Lõppesitlus · 01.06.2026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1192378" cy="310896"/>
          </a:xfrm>
          <a:prstGeom prst="roundRect">
            <a:avLst>
              <a:gd name="adj" fmla="val 50000"/>
            </a:avLst>
          </a:prstGeom>
          <a:solidFill>
            <a:srgbClr val="E5645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02920"/>
            <a:ext cx="11923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868680"/>
            <a:ext cx="11055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430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Andmeid on rohkem kui kunagi — mõtestust vähem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566928" y="1572768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Harrastus- ja poolprofessionaalsel jooksjal puudub süstemaatiline tugi igapäevaseks koormuse kohandamiseks.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2286000"/>
            <a:ext cx="676656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DCE3E1"/>
            </a:solidFill>
            <a:prstDash val="solid"/>
          </a:ln>
          <a:effectLst>
            <a:outerShdw sx="100000" sy="100000" kx="0" ky="0" algn="bl" rotWithShape="0" blurRad="114300" dist="38100" dir="8100000">
              <a:srgbClr val="0C2B33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560320"/>
            <a:ext cx="603504" cy="603504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7801" y="2705161"/>
            <a:ext cx="313822" cy="31382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18488" y="245059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430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Andmeid on, tõlgendust pole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1618488" y="2816352"/>
            <a:ext cx="5532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Nutikell mõõdab pulssi, GPS-i ja und. Keegi ei ütle, mida nende numbritega täna teha.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66928" y="3566160"/>
            <a:ext cx="676656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DCE3E1"/>
            </a:solidFill>
            <a:prstDash val="solid"/>
          </a:ln>
          <a:effectLst>
            <a:outerShdw sx="100000" sy="100000" kx="0" ky="0" algn="bl" rotWithShape="0" blurRad="114300" dist="38100" dir="8100000">
              <a:srgbClr val="0C2B33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22960" y="3840480"/>
            <a:ext cx="603504" cy="603504"/>
          </a:xfrm>
          <a:prstGeom prst="ellipse">
            <a:avLst/>
          </a:prstGeom>
          <a:solidFill>
            <a:srgbClr val="ECA13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801" y="3985321"/>
            <a:ext cx="313822" cy="31382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618488" y="373075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430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Koormuse kohandamine on reaktiivne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1618488" y="4096512"/>
            <a:ext cx="5532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Ülekoormust märkad alles pärast kehva treeningut, hommikust väsimust või kerget vigastust.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66928" y="4846320"/>
            <a:ext cx="676656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DCE3E1"/>
            </a:solidFill>
            <a:prstDash val="solid"/>
          </a:ln>
          <a:effectLst>
            <a:outerShdw sx="100000" sy="100000" kx="0" ky="0" algn="bl" rotWithShape="0" blurRad="114300" dist="38100" dir="8100000">
              <a:srgbClr val="0C2B33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22960" y="5120640"/>
            <a:ext cx="603504" cy="603504"/>
          </a:xfrm>
          <a:prstGeom prst="ellipse">
            <a:avLst/>
          </a:prstGeom>
          <a:solidFill>
            <a:srgbClr val="E5645E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801" y="5265481"/>
            <a:ext cx="313822" cy="31382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18488" y="501091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430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Olemasolevad tööriistad ei vasta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1618488" y="5376672"/>
            <a:ext cx="5532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Garmin annab ühe numbri ilma põhjenduseta; TrainingPeaks maksab ~€200/a ja eeldab eksperdioskust.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7726680" y="2286000"/>
            <a:ext cx="3895344" cy="3822192"/>
          </a:xfrm>
          <a:prstGeom prst="roundRect">
            <a:avLst>
              <a:gd name="adj" fmla="val 2392"/>
            </a:avLst>
          </a:prstGeom>
          <a:solidFill>
            <a:srgbClr val="0C2B33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9308592" y="2606040"/>
            <a:ext cx="731520" cy="731520"/>
          </a:xfrm>
          <a:prstGeom prst="ellipse">
            <a:avLst/>
          </a:prstGeom>
          <a:solidFill>
            <a:srgbClr val="9BE564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4157" y="2781605"/>
            <a:ext cx="380390" cy="38039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001000" y="3474720"/>
            <a:ext cx="3346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9BE5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Puuduv lüli</a:t>
            </a:r>
            <a:endParaRPr lang="en-US" sz="1700" dirty="0"/>
          </a:p>
        </p:txBody>
      </p:sp>
      <p:sp>
        <p:nvSpPr>
          <p:cNvPr id="25" name="Text 19"/>
          <p:cNvSpPr/>
          <p:nvPr/>
        </p:nvSpPr>
        <p:spPr>
          <a:xfrm>
            <a:off x="8046720" y="3886200"/>
            <a:ext cx="32552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Personaalne andmepõhine teine arvamus, mis ühendab objektiivsed näitajad subjektiivsete signaalidega ja põhjendab oma soovituse inimkeeles.</a:t>
            </a:r>
            <a:endParaRPr lang="en-US" sz="1350" dirty="0"/>
          </a:p>
        </p:txBody>
      </p:sp>
      <p:sp>
        <p:nvSpPr>
          <p:cNvPr id="27" name="Text 20"/>
          <p:cNvSpPr/>
          <p:nvPr/>
        </p:nvSpPr>
        <p:spPr>
          <a:xfrm>
            <a:off x="566928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Vorm.ai</a:t>
            </a:r>
            <a:pPr algn="l" indent="0" marL="0">
              <a:buNone/>
            </a:pPr>
            <a:r>
              <a:rPr lang="en-US" sz="90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AI-põhine treeningkoormuse analüüsija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1183112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1192378" cy="310896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02920"/>
            <a:ext cx="11923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LAHENDUS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868680"/>
            <a:ext cx="11055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430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Idee: andmepõhine teine arvamus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566928" y="1572768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Iga päev: andmed sisse → soovitus + inimkeele põhjendus välja. Neli selget tegevuskategooriat.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66928" y="2240280"/>
            <a:ext cx="2558034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3E1"/>
            </a:solidFill>
            <a:prstDash val="solid"/>
          </a:ln>
          <a:effectLst>
            <a:outerShdw sx="100000" sy="100000" kx="0" ky="0" algn="bl" rotWithShape="0" blurRad="114300" dist="38100" dir="8100000">
              <a:srgbClr val="0C2B33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2240280"/>
            <a:ext cx="2558034" cy="128016"/>
          </a:xfrm>
          <a:prstGeom prst="rect">
            <a:avLst/>
          </a:prstGeom>
          <a:solidFill>
            <a:srgbClr val="5FA83A"/>
          </a:solidFill>
          <a:ln/>
        </p:spPr>
      </p:sp>
      <p:sp>
        <p:nvSpPr>
          <p:cNvPr id="8" name="Shape 6"/>
          <p:cNvSpPr/>
          <p:nvPr/>
        </p:nvSpPr>
        <p:spPr>
          <a:xfrm>
            <a:off x="1480185" y="2542032"/>
            <a:ext cx="731520" cy="731520"/>
          </a:xfrm>
          <a:prstGeom prst="ellipse">
            <a:avLst/>
          </a:prstGeom>
          <a:solidFill>
            <a:srgbClr val="5FA83A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750" y="2717597"/>
            <a:ext cx="380390" cy="38039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76656" y="3401568"/>
            <a:ext cx="23385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30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Jätka plaanipäraselt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713232" y="3950208"/>
            <a:ext cx="226542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Signaalid rahulikud — plaan kehtib.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399282" y="2240280"/>
            <a:ext cx="2558034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3E1"/>
            </a:solidFill>
            <a:prstDash val="solid"/>
          </a:ln>
          <a:effectLst>
            <a:outerShdw sx="100000" sy="100000" kx="0" ky="0" algn="bl" rotWithShape="0" blurRad="114300" dist="38100" dir="8100000">
              <a:srgbClr val="0C2B33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399282" y="2240280"/>
            <a:ext cx="2558034" cy="128016"/>
          </a:xfrm>
          <a:prstGeom prst="rect">
            <a:avLst/>
          </a:prstGeom>
          <a:solidFill>
            <a:srgbClr val="ECA13A"/>
          </a:solidFill>
          <a:ln/>
        </p:spPr>
      </p:sp>
      <p:sp>
        <p:nvSpPr>
          <p:cNvPr id="14" name="Shape 11"/>
          <p:cNvSpPr/>
          <p:nvPr/>
        </p:nvSpPr>
        <p:spPr>
          <a:xfrm>
            <a:off x="4312539" y="2542032"/>
            <a:ext cx="731520" cy="731520"/>
          </a:xfrm>
          <a:prstGeom prst="ellipse">
            <a:avLst/>
          </a:prstGeom>
          <a:solidFill>
            <a:srgbClr val="ECA13A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8104" y="2717597"/>
            <a:ext cx="380390" cy="38039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509010" y="3401568"/>
            <a:ext cx="23385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30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Vähenda intensiivsust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3545586" y="3950208"/>
            <a:ext cx="226542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Koormus kuhjub — kontrolli mahtu/tempot.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231636" y="2240280"/>
            <a:ext cx="2558034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3E1"/>
            </a:solidFill>
            <a:prstDash val="solid"/>
          </a:ln>
          <a:effectLst>
            <a:outerShdw sx="100000" sy="100000" kx="0" ky="0" algn="bl" rotWithShape="0" blurRad="114300" dist="38100" dir="8100000">
              <a:srgbClr val="0C2B33">
                <a:alpha val="1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231636" y="2240280"/>
            <a:ext cx="2558034" cy="128016"/>
          </a:xfrm>
          <a:prstGeom prst="rect">
            <a:avLst/>
          </a:prstGeom>
          <a:solidFill>
            <a:srgbClr val="3E8FB0"/>
          </a:solidFill>
          <a:ln/>
        </p:spPr>
      </p:sp>
      <p:sp>
        <p:nvSpPr>
          <p:cNvPr id="20" name="Shape 16"/>
          <p:cNvSpPr/>
          <p:nvPr/>
        </p:nvSpPr>
        <p:spPr>
          <a:xfrm>
            <a:off x="7144893" y="2542032"/>
            <a:ext cx="731520" cy="731520"/>
          </a:xfrm>
          <a:prstGeom prst="ellipse">
            <a:avLst/>
          </a:prstGeom>
          <a:solidFill>
            <a:srgbClr val="3E8FB0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0458" y="2717597"/>
            <a:ext cx="380390" cy="38039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341364" y="3401568"/>
            <a:ext cx="23385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30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Lisa taastumispäev</a:t>
            </a:r>
            <a:endParaRPr lang="en-US" sz="1450" dirty="0"/>
          </a:p>
        </p:txBody>
      </p:sp>
      <p:sp>
        <p:nvSpPr>
          <p:cNvPr id="23" name="Text 18"/>
          <p:cNvSpPr/>
          <p:nvPr/>
        </p:nvSpPr>
        <p:spPr>
          <a:xfrm>
            <a:off x="6377940" y="3950208"/>
            <a:ext cx="226542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Väsimus kõrge — anna kehale aega.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9063990" y="2240280"/>
            <a:ext cx="2558034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3E1"/>
            </a:solidFill>
            <a:prstDash val="solid"/>
          </a:ln>
          <a:effectLst>
            <a:outerShdw sx="100000" sy="100000" kx="0" ky="0" algn="bl" rotWithShape="0" blurRad="114300" dist="38100" dir="8100000">
              <a:srgbClr val="0C2B33">
                <a:alpha val="16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9063990" y="2240280"/>
            <a:ext cx="2558034" cy="128016"/>
          </a:xfrm>
          <a:prstGeom prst="rect">
            <a:avLst/>
          </a:prstGeom>
          <a:solidFill>
            <a:srgbClr val="E5645E"/>
          </a:solidFill>
          <a:ln/>
        </p:spPr>
      </p:sp>
      <p:sp>
        <p:nvSpPr>
          <p:cNvPr id="26" name="Shape 21"/>
          <p:cNvSpPr/>
          <p:nvPr/>
        </p:nvSpPr>
        <p:spPr>
          <a:xfrm>
            <a:off x="9977247" y="2542032"/>
            <a:ext cx="731520" cy="731520"/>
          </a:xfrm>
          <a:prstGeom prst="ellipse">
            <a:avLst/>
          </a:prstGeom>
          <a:solidFill>
            <a:srgbClr val="E5645E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52812" y="2717597"/>
            <a:ext cx="380390" cy="38039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173718" y="3401568"/>
            <a:ext cx="23385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30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Alternatiivne treening</a:t>
            </a:r>
            <a:endParaRPr lang="en-US" sz="1450" dirty="0"/>
          </a:p>
        </p:txBody>
      </p:sp>
      <p:sp>
        <p:nvSpPr>
          <p:cNvPr id="29" name="Text 23"/>
          <p:cNvSpPr/>
          <p:nvPr/>
        </p:nvSpPr>
        <p:spPr>
          <a:xfrm>
            <a:off x="9210294" y="3950208"/>
            <a:ext cx="226542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Vaheta vahelduseks koormuse tüüpi.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566928" y="4800600"/>
            <a:ext cx="11055096" cy="1280160"/>
          </a:xfrm>
          <a:prstGeom prst="roundRect">
            <a:avLst>
              <a:gd name="adj" fmla="val 7143"/>
            </a:avLst>
          </a:prstGeom>
          <a:solidFill>
            <a:srgbClr val="0C2B33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886968" y="5102352"/>
            <a:ext cx="676656" cy="676656"/>
          </a:xfrm>
          <a:prstGeom prst="ellipse">
            <a:avLst/>
          </a:prstGeom>
          <a:solidFill>
            <a:srgbClr val="9BE564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9365" y="5264749"/>
            <a:ext cx="351861" cy="351861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1755648" y="4983480"/>
            <a:ext cx="95006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9BE5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Erinevus turust:  </a:t>
            </a:r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Garmin annab numbri, TrainingPeaks eeldab eksperti. </a:t>
            </a:r>
            <a:pPr algn="l"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Vorm.ai annab konkreetse otsuse + selgituse, mis viitab sinu enda numbritele.</a:t>
            </a:r>
            <a:endParaRPr lang="en-US" sz="1450" dirty="0"/>
          </a:p>
        </p:txBody>
      </p:sp>
      <p:sp>
        <p:nvSpPr>
          <p:cNvPr id="35" name="Text 27"/>
          <p:cNvSpPr/>
          <p:nvPr/>
        </p:nvSpPr>
        <p:spPr>
          <a:xfrm>
            <a:off x="566928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Vorm.ai</a:t>
            </a:r>
            <a:pPr algn="l" indent="0" marL="0">
              <a:buNone/>
            </a:pPr>
            <a:r>
              <a:rPr lang="en-US" sz="90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AI-põhine treeningkoormuse analüüsija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183112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1686154" cy="310896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02920"/>
            <a:ext cx="168615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KUIDAS TÖÖTAB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868680"/>
            <a:ext cx="11055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430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Andmetest soovituseni — viies sammus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66928" y="2148840"/>
            <a:ext cx="2006194" cy="2743200"/>
          </a:xfrm>
          <a:prstGeom prst="roundRect">
            <a:avLst>
              <a:gd name="adj" fmla="val 4558"/>
            </a:avLst>
          </a:prstGeom>
          <a:solidFill>
            <a:srgbClr val="FFFFFF"/>
          </a:solidFill>
          <a:ln w="12700">
            <a:solidFill>
              <a:srgbClr val="DCE3E1"/>
            </a:solidFill>
            <a:prstDash val="solid"/>
          </a:ln>
          <a:effectLst>
            <a:outerShdw sx="100000" sy="100000" kx="0" ky="0" algn="bl" rotWithShape="0" blurRad="114300" dist="38100" dir="8100000">
              <a:srgbClr val="0C2B33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81405" y="2441448"/>
            <a:ext cx="777240" cy="77724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7942" y="2627986"/>
            <a:ext cx="404165" cy="40416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355848"/>
            <a:ext cx="18598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30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Andmed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94944" y="3739896"/>
            <a:ext cx="175016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Strava API / Garmin GPX / CSV / näidis. SQLite-vahemälu delta-sünkroniseerib.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76656" y="2295144"/>
            <a:ext cx="310896" cy="310896"/>
          </a:xfrm>
          <a:prstGeom prst="ellipse">
            <a:avLst/>
          </a:prstGeom>
          <a:solidFill>
            <a:srgbClr val="0C2B33"/>
          </a:solidFill>
          <a:ln/>
        </p:spPr>
      </p:sp>
      <p:sp>
        <p:nvSpPr>
          <p:cNvPr id="11" name="Text 8"/>
          <p:cNvSpPr/>
          <p:nvPr/>
        </p:nvSpPr>
        <p:spPr>
          <a:xfrm>
            <a:off x="676656" y="22951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BE5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0554" y="3419856"/>
            <a:ext cx="201168" cy="20116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829154" y="2148840"/>
            <a:ext cx="2006194" cy="2743200"/>
          </a:xfrm>
          <a:prstGeom prst="roundRect">
            <a:avLst>
              <a:gd name="adj" fmla="val 4558"/>
            </a:avLst>
          </a:prstGeom>
          <a:solidFill>
            <a:srgbClr val="FFFFFF"/>
          </a:solidFill>
          <a:ln w="12700">
            <a:solidFill>
              <a:srgbClr val="DCE3E1"/>
            </a:solidFill>
            <a:prstDash val="solid"/>
          </a:ln>
          <a:effectLst>
            <a:outerShdw sx="100000" sy="100000" kx="0" ky="0" algn="bl" rotWithShape="0" blurRad="114300" dist="38100" dir="8100000">
              <a:srgbClr val="0C2B33">
                <a:alpha val="16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443630" y="2441448"/>
            <a:ext cx="777240" cy="777240"/>
          </a:xfrm>
          <a:prstGeom prst="ellipse">
            <a:avLst/>
          </a:prstGeom>
          <a:solidFill>
            <a:srgbClr val="1AA0A8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0168" y="2627986"/>
            <a:ext cx="404165" cy="40416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902306" y="3355848"/>
            <a:ext cx="18598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30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Spordinäitajad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2957170" y="3739896"/>
            <a:ext cx="175016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ACWR (7/28), TRIMP, monotoonsus, Banister CTL/ATL/TSB.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2938882" y="2295144"/>
            <a:ext cx="310896" cy="310896"/>
          </a:xfrm>
          <a:prstGeom prst="ellipse">
            <a:avLst/>
          </a:prstGeom>
          <a:solidFill>
            <a:srgbClr val="0C2B33"/>
          </a:solidFill>
          <a:ln/>
        </p:spPr>
      </p:sp>
      <p:sp>
        <p:nvSpPr>
          <p:cNvPr id="19" name="Text 14"/>
          <p:cNvSpPr/>
          <p:nvPr/>
        </p:nvSpPr>
        <p:spPr>
          <a:xfrm>
            <a:off x="2938882" y="22951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BE5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2779" y="3419856"/>
            <a:ext cx="201168" cy="201168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5091379" y="2148840"/>
            <a:ext cx="2006194" cy="2743200"/>
          </a:xfrm>
          <a:prstGeom prst="roundRect">
            <a:avLst>
              <a:gd name="adj" fmla="val 4558"/>
            </a:avLst>
          </a:prstGeom>
          <a:solidFill>
            <a:srgbClr val="FFFFFF"/>
          </a:solidFill>
          <a:ln w="12700">
            <a:solidFill>
              <a:srgbClr val="DCE3E1"/>
            </a:solidFill>
            <a:prstDash val="solid"/>
          </a:ln>
          <a:effectLst>
            <a:outerShdw sx="100000" sy="100000" kx="0" ky="0" algn="bl" rotWithShape="0" blurRad="114300" dist="38100" dir="8100000">
              <a:srgbClr val="0C2B33">
                <a:alpha val="16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5705856" y="2441448"/>
            <a:ext cx="777240" cy="777240"/>
          </a:xfrm>
          <a:prstGeom prst="ellipse">
            <a:avLst/>
          </a:prstGeom>
          <a:solidFill>
            <a:srgbClr val="ECA13A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2394" y="2627986"/>
            <a:ext cx="404165" cy="404165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164531" y="3355848"/>
            <a:ext cx="18598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30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Ohutusreeglid</a:t>
            </a:r>
            <a:endParaRPr lang="en-US" sz="1450" dirty="0"/>
          </a:p>
        </p:txBody>
      </p:sp>
      <p:sp>
        <p:nvSpPr>
          <p:cNvPr id="25" name="Text 18"/>
          <p:cNvSpPr/>
          <p:nvPr/>
        </p:nvSpPr>
        <p:spPr>
          <a:xfrm>
            <a:off x="5219395" y="3739896"/>
            <a:ext cx="175016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ACWR &gt; 1,5 · RPE ≥ 8 kaks päeva · uni &lt; 6 h → sunnitakse ohutu suund.</a:t>
            </a:r>
            <a:endParaRPr lang="en-US" sz="1050" dirty="0"/>
          </a:p>
        </p:txBody>
      </p:sp>
      <p:sp>
        <p:nvSpPr>
          <p:cNvPr id="26" name="Shape 19"/>
          <p:cNvSpPr/>
          <p:nvPr/>
        </p:nvSpPr>
        <p:spPr>
          <a:xfrm>
            <a:off x="5201107" y="2295144"/>
            <a:ext cx="310896" cy="310896"/>
          </a:xfrm>
          <a:prstGeom prst="ellipse">
            <a:avLst/>
          </a:prstGeom>
          <a:solidFill>
            <a:srgbClr val="0C2B33"/>
          </a:solidFill>
          <a:ln/>
        </p:spPr>
      </p:sp>
      <p:sp>
        <p:nvSpPr>
          <p:cNvPr id="27" name="Text 20"/>
          <p:cNvSpPr/>
          <p:nvPr/>
        </p:nvSpPr>
        <p:spPr>
          <a:xfrm>
            <a:off x="5201107" y="22951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BE5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25005" y="3419856"/>
            <a:ext cx="201168" cy="201168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>
            <a:off x="7353605" y="2148840"/>
            <a:ext cx="2006194" cy="2743200"/>
          </a:xfrm>
          <a:prstGeom prst="roundRect">
            <a:avLst>
              <a:gd name="adj" fmla="val 4558"/>
            </a:avLst>
          </a:prstGeom>
          <a:solidFill>
            <a:srgbClr val="FFFFFF"/>
          </a:solidFill>
          <a:ln w="12700">
            <a:solidFill>
              <a:srgbClr val="DCE3E1"/>
            </a:solidFill>
            <a:prstDash val="solid"/>
          </a:ln>
          <a:effectLst>
            <a:outerShdw sx="100000" sy="100000" kx="0" ky="0" algn="bl" rotWithShape="0" blurRad="114300" dist="38100" dir="8100000">
              <a:srgbClr val="0C2B33">
                <a:alpha val="16000"/>
              </a:srgbClr>
            </a:outerShdw>
          </a:effectLst>
        </p:spPr>
      </p:sp>
      <p:sp>
        <p:nvSpPr>
          <p:cNvPr id="30" name="Shape 22"/>
          <p:cNvSpPr/>
          <p:nvPr/>
        </p:nvSpPr>
        <p:spPr>
          <a:xfrm>
            <a:off x="7968082" y="2441448"/>
            <a:ext cx="777240" cy="777240"/>
          </a:xfrm>
          <a:prstGeom prst="ellipse">
            <a:avLst/>
          </a:prstGeom>
          <a:solidFill>
            <a:srgbClr val="5FA83A"/>
          </a:solidFill>
          <a:ln/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54619" y="2627986"/>
            <a:ext cx="404165" cy="404165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7426757" y="3355848"/>
            <a:ext cx="18598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30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Keelemudel</a:t>
            </a:r>
            <a:endParaRPr lang="en-US" sz="1450" dirty="0"/>
          </a:p>
        </p:txBody>
      </p:sp>
      <p:sp>
        <p:nvSpPr>
          <p:cNvPr id="33" name="Text 24"/>
          <p:cNvSpPr/>
          <p:nvPr/>
        </p:nvSpPr>
        <p:spPr>
          <a:xfrm>
            <a:off x="7481621" y="3739896"/>
            <a:ext cx="175016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Struktuurne prompt → JSON: kategooria + põhjendus + modifikatsioon.</a:t>
            </a:r>
            <a:endParaRPr lang="en-US" sz="1050" dirty="0"/>
          </a:p>
        </p:txBody>
      </p:sp>
      <p:sp>
        <p:nvSpPr>
          <p:cNvPr id="34" name="Shape 25"/>
          <p:cNvSpPr/>
          <p:nvPr/>
        </p:nvSpPr>
        <p:spPr>
          <a:xfrm>
            <a:off x="7463333" y="2295144"/>
            <a:ext cx="310896" cy="310896"/>
          </a:xfrm>
          <a:prstGeom prst="ellipse">
            <a:avLst/>
          </a:prstGeom>
          <a:solidFill>
            <a:srgbClr val="0C2B33"/>
          </a:solidFill>
          <a:ln/>
        </p:spPr>
      </p:sp>
      <p:sp>
        <p:nvSpPr>
          <p:cNvPr id="35" name="Text 26"/>
          <p:cNvSpPr/>
          <p:nvPr/>
        </p:nvSpPr>
        <p:spPr>
          <a:xfrm>
            <a:off x="7463333" y="22951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BE5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200" dirty="0"/>
          </a:p>
        </p:txBody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87230" y="3419856"/>
            <a:ext cx="201168" cy="201168"/>
          </a:xfrm>
          <a:prstGeom prst="rect">
            <a:avLst/>
          </a:prstGeom>
        </p:spPr>
      </p:pic>
      <p:sp>
        <p:nvSpPr>
          <p:cNvPr id="37" name="Shape 27"/>
          <p:cNvSpPr/>
          <p:nvPr/>
        </p:nvSpPr>
        <p:spPr>
          <a:xfrm>
            <a:off x="9615830" y="2148840"/>
            <a:ext cx="2006194" cy="2743200"/>
          </a:xfrm>
          <a:prstGeom prst="roundRect">
            <a:avLst>
              <a:gd name="adj" fmla="val 4558"/>
            </a:avLst>
          </a:prstGeom>
          <a:solidFill>
            <a:srgbClr val="FFFFFF"/>
          </a:solidFill>
          <a:ln w="12700">
            <a:solidFill>
              <a:srgbClr val="DCE3E1"/>
            </a:solidFill>
            <a:prstDash val="solid"/>
          </a:ln>
          <a:effectLst>
            <a:outerShdw sx="100000" sy="100000" kx="0" ky="0" algn="bl" rotWithShape="0" blurRad="114300" dist="38100" dir="8100000">
              <a:srgbClr val="0C2B33">
                <a:alpha val="16000"/>
              </a:srgbClr>
            </a:outerShdw>
          </a:effectLst>
        </p:spPr>
      </p:sp>
      <p:sp>
        <p:nvSpPr>
          <p:cNvPr id="38" name="Shape 28"/>
          <p:cNvSpPr/>
          <p:nvPr/>
        </p:nvSpPr>
        <p:spPr>
          <a:xfrm>
            <a:off x="10230307" y="2441448"/>
            <a:ext cx="777240" cy="777240"/>
          </a:xfrm>
          <a:prstGeom prst="ellipse">
            <a:avLst/>
          </a:prstGeom>
          <a:solidFill>
            <a:srgbClr val="E5645E"/>
          </a:solidFill>
          <a:ln/>
        </p:spPr>
      </p:sp>
      <p:pic>
        <p:nvPicPr>
          <p:cNvPr id="3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16845" y="2627986"/>
            <a:ext cx="404165" cy="404165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9688982" y="3355848"/>
            <a:ext cx="18598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30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Soovitus</a:t>
            </a:r>
            <a:endParaRPr lang="en-US" sz="1450" dirty="0"/>
          </a:p>
        </p:txBody>
      </p:sp>
      <p:sp>
        <p:nvSpPr>
          <p:cNvPr id="41" name="Text 30"/>
          <p:cNvSpPr/>
          <p:nvPr/>
        </p:nvSpPr>
        <p:spPr>
          <a:xfrm>
            <a:off x="9743846" y="3739896"/>
            <a:ext cx="175016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Kategooria + 2–4 lauset + Plotly-graafikud kriitiliseks hindamiseks.</a:t>
            </a:r>
            <a:endParaRPr lang="en-US" sz="1050" dirty="0"/>
          </a:p>
        </p:txBody>
      </p:sp>
      <p:sp>
        <p:nvSpPr>
          <p:cNvPr id="42" name="Shape 31"/>
          <p:cNvSpPr/>
          <p:nvPr/>
        </p:nvSpPr>
        <p:spPr>
          <a:xfrm>
            <a:off x="9725558" y="2295144"/>
            <a:ext cx="310896" cy="310896"/>
          </a:xfrm>
          <a:prstGeom prst="ellipse">
            <a:avLst/>
          </a:prstGeom>
          <a:solidFill>
            <a:srgbClr val="0C2B33"/>
          </a:solidFill>
          <a:ln/>
        </p:spPr>
      </p:sp>
      <p:sp>
        <p:nvSpPr>
          <p:cNvPr id="43" name="Text 32"/>
          <p:cNvSpPr/>
          <p:nvPr/>
        </p:nvSpPr>
        <p:spPr>
          <a:xfrm>
            <a:off x="9725558" y="22951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BE5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200" dirty="0"/>
          </a:p>
        </p:txBody>
      </p:sp>
      <p:sp>
        <p:nvSpPr>
          <p:cNvPr id="44" name="Shape 33"/>
          <p:cNvSpPr/>
          <p:nvPr/>
        </p:nvSpPr>
        <p:spPr>
          <a:xfrm>
            <a:off x="566928" y="5257800"/>
            <a:ext cx="11055096" cy="868680"/>
          </a:xfrm>
          <a:prstGeom prst="roundRect">
            <a:avLst>
              <a:gd name="adj" fmla="val 10526"/>
            </a:avLst>
          </a:prstGeom>
          <a:solidFill>
            <a:srgbClr val="0C2B33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45" name="Text 34"/>
          <p:cNvSpPr/>
          <p:nvPr/>
        </p:nvSpPr>
        <p:spPr>
          <a:xfrm>
            <a:off x="932688" y="5257800"/>
            <a:ext cx="103235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9BE5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Disainiotsus:  </a:t>
            </a:r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reeglid katavad äärejuhud, LLM tegeleb nüanssidega. scikit-learn prognoosib ACWR-trendi, et hoiatada </a:t>
            </a:r>
            <a:pPr algn="l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9BE5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enne</a:t>
            </a:r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ohulõike 1,5 ületamist.</a:t>
            </a:r>
            <a:endParaRPr lang="en-US" sz="1350" dirty="0"/>
          </a:p>
        </p:txBody>
      </p:sp>
      <p:sp>
        <p:nvSpPr>
          <p:cNvPr id="47" name="Text 35"/>
          <p:cNvSpPr/>
          <p:nvPr/>
        </p:nvSpPr>
        <p:spPr>
          <a:xfrm>
            <a:off x="566928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Vorm.ai</a:t>
            </a:r>
            <a:pPr algn="l" indent="0" marL="0">
              <a:buNone/>
            </a:pPr>
            <a:r>
              <a:rPr lang="en-US" sz="90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AI-põhine treeningkoormuse analüüsija</a:t>
            </a:r>
            <a:endParaRPr lang="en-US" sz="900" dirty="0"/>
          </a:p>
        </p:txBody>
      </p:sp>
      <p:sp>
        <p:nvSpPr>
          <p:cNvPr id="48" name="Text 36"/>
          <p:cNvSpPr/>
          <p:nvPr/>
        </p:nvSpPr>
        <p:spPr>
          <a:xfrm>
            <a:off x="11183112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896112" cy="310896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02920"/>
            <a:ext cx="896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NÄIDE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868680"/>
            <a:ext cx="11055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430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Üks päev: sisendist soovituseni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66928" y="1874520"/>
            <a:ext cx="470916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DCE3E1"/>
            </a:solidFill>
            <a:prstDash val="solid"/>
          </a:ln>
          <a:effectLst>
            <a:outerShdw sx="100000" sy="100000" kx="0" ky="0" algn="bl" rotWithShape="0" blurRad="114300" dist="38100" dir="8100000">
              <a:srgbClr val="0C2B33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130552"/>
            <a:ext cx="603504" cy="603504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6089" y="2275393"/>
            <a:ext cx="313822" cy="31382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72768" y="2185416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0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Sisend — hommik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59536" y="30175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ACWR (äge/krooniline)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3630168" y="30175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430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1,36  ↑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59536" y="3438144"/>
            <a:ext cx="4123944" cy="0"/>
          </a:xfrm>
          <a:prstGeom prst="line">
            <a:avLst/>
          </a:prstGeom>
          <a:noFill/>
          <a:ln w="12700">
            <a:solidFill>
              <a:srgbClr val="DCE3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9536" y="34747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Monotoonsus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3630168" y="34747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430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1,71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59536" y="3895344"/>
            <a:ext cx="4123944" cy="0"/>
          </a:xfrm>
          <a:prstGeom prst="line">
            <a:avLst/>
          </a:prstGeom>
          <a:noFill/>
          <a:ln w="12700">
            <a:solidFill>
              <a:srgbClr val="DCE3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59536" y="39319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Eelmise päeva RPE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3630168" y="39319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430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 / 10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859536" y="4352544"/>
            <a:ext cx="4123944" cy="0"/>
          </a:xfrm>
          <a:prstGeom prst="line">
            <a:avLst/>
          </a:prstGeom>
          <a:noFill/>
          <a:ln w="12700">
            <a:solidFill>
              <a:srgbClr val="DCE3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59536" y="43891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3630168" y="43891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430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6,1 h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59536" y="4809744"/>
            <a:ext cx="4123944" cy="0"/>
          </a:xfrm>
          <a:prstGeom prst="line">
            <a:avLst/>
          </a:prstGeom>
          <a:noFill/>
          <a:ln w="12700">
            <a:solidFill>
              <a:srgbClr val="DCE3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59536" y="48463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Tänane plaan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3630168" y="48463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430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 × 1000 m tempo</a:t>
            </a:r>
            <a:endParaRPr lang="en-US" sz="130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3319272"/>
            <a:ext cx="502920" cy="502920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6144768" y="1874520"/>
            <a:ext cx="5477256" cy="3383280"/>
          </a:xfrm>
          <a:prstGeom prst="roundRect">
            <a:avLst>
              <a:gd name="adj" fmla="val 2703"/>
            </a:avLst>
          </a:prstGeom>
          <a:solidFill>
            <a:srgbClr val="0C2B33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6144768" y="1874520"/>
            <a:ext cx="5477256" cy="146304"/>
          </a:xfrm>
          <a:prstGeom prst="rect">
            <a:avLst/>
          </a:prstGeom>
          <a:solidFill>
            <a:srgbClr val="ECA13A"/>
          </a:solidFill>
          <a:ln/>
        </p:spPr>
      </p:sp>
      <p:sp>
        <p:nvSpPr>
          <p:cNvPr id="26" name="Shape 22"/>
          <p:cNvSpPr/>
          <p:nvPr/>
        </p:nvSpPr>
        <p:spPr>
          <a:xfrm>
            <a:off x="6419088" y="2185416"/>
            <a:ext cx="603504" cy="603504"/>
          </a:xfrm>
          <a:prstGeom prst="ellipse">
            <a:avLst/>
          </a:prstGeom>
          <a:solidFill>
            <a:srgbClr val="ECA13A"/>
          </a:solidFill>
          <a:ln/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3929" y="2330257"/>
            <a:ext cx="313822" cy="313822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7150608" y="2240280"/>
            <a:ext cx="4288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Vorm.ai väljund</a:t>
            </a:r>
            <a:endParaRPr lang="en-US" sz="1600" dirty="0"/>
          </a:p>
        </p:txBody>
      </p:sp>
      <p:sp>
        <p:nvSpPr>
          <p:cNvPr id="29" name="Shape 24"/>
          <p:cNvSpPr/>
          <p:nvPr/>
        </p:nvSpPr>
        <p:spPr>
          <a:xfrm>
            <a:off x="6437376" y="2971800"/>
            <a:ext cx="4892040" cy="566928"/>
          </a:xfrm>
          <a:prstGeom prst="roundRect">
            <a:avLst>
              <a:gd name="adj" fmla="val 12903"/>
            </a:avLst>
          </a:prstGeom>
          <a:solidFill>
            <a:srgbClr val="ECA13A"/>
          </a:solidFill>
          <a:ln/>
        </p:spPr>
      </p:sp>
      <p:sp>
        <p:nvSpPr>
          <p:cNvPr id="30" name="Text 25"/>
          <p:cNvSpPr/>
          <p:nvPr/>
        </p:nvSpPr>
        <p:spPr>
          <a:xfrm>
            <a:off x="6437376" y="2971800"/>
            <a:ext cx="4892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50" kern="0" dirty="0">
                <a:solidFill>
                  <a:srgbClr val="0C2B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⬇  VÄHENDA INTENSIIVSUST</a:t>
            </a:r>
            <a:endParaRPr lang="en-US" sz="1500" dirty="0"/>
          </a:p>
        </p:txBody>
      </p:sp>
      <p:sp>
        <p:nvSpPr>
          <p:cNvPr id="31" name="Text 26"/>
          <p:cNvSpPr/>
          <p:nvPr/>
        </p:nvSpPr>
        <p:spPr>
          <a:xfrm>
            <a:off x="6455664" y="3703320"/>
            <a:ext cx="4928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E5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Põhjendus</a:t>
            </a:r>
            <a:endParaRPr lang="en-US" sz="1100" dirty="0"/>
          </a:p>
        </p:txBody>
      </p:sp>
      <p:sp>
        <p:nvSpPr>
          <p:cNvPr id="32" name="Text 27"/>
          <p:cNvSpPr/>
          <p:nvPr/>
        </p:nvSpPr>
        <p:spPr>
          <a:xfrm>
            <a:off x="6455664" y="4014216"/>
            <a:ext cx="48554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„7-päeva koormus on kõrge ja kasvab, RPE 8 koos lühikese unega kuhjab väsimust — täna pigem kontrollitud tempo väiksemas mahus kui täiskoormusega 6 × 1000 m.“</a:t>
            </a:r>
            <a:endParaRPr lang="en-US" sz="1300" dirty="0"/>
          </a:p>
        </p:txBody>
      </p:sp>
      <p:sp>
        <p:nvSpPr>
          <p:cNvPr id="33" name="Text 28"/>
          <p:cNvSpPr/>
          <p:nvPr/>
        </p:nvSpPr>
        <p:spPr>
          <a:xfrm>
            <a:off x="566928" y="5532120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Taustaks: </a:t>
            </a:r>
            <a:pPr algn="l" indent="0" marL="0">
              <a:buNone/>
            </a:pPr>
            <a:r>
              <a:rPr lang="en-US" sz="130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kasutaja näeb ACWR-kõverat ja viimase 14 päeva tabelit, et soovitust </a:t>
            </a:r>
            <a:pPr algn="l"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kriitiliselt hinnata</a:t>
            </a:r>
            <a:pPr algn="l" indent="0" marL="0">
              <a:buNone/>
            </a:pPr>
            <a:r>
              <a:rPr lang="en-US" sz="130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tööriist on otsustustugi, mitte käsk.</a:t>
            </a:r>
            <a:endParaRPr lang="en-US" sz="1300" dirty="0"/>
          </a:p>
        </p:txBody>
      </p:sp>
      <p:sp>
        <p:nvSpPr>
          <p:cNvPr id="35" name="Text 29"/>
          <p:cNvSpPr/>
          <p:nvPr/>
        </p:nvSpPr>
        <p:spPr>
          <a:xfrm>
            <a:off x="566928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Vorm.ai</a:t>
            </a:r>
            <a:pPr algn="l" indent="0" marL="0">
              <a:buNone/>
            </a:pPr>
            <a:r>
              <a:rPr lang="en-US" sz="90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AI-põhine treeningkoormuse analüüsija</a:t>
            </a:r>
            <a:endParaRPr lang="en-US" sz="900" dirty="0"/>
          </a:p>
        </p:txBody>
      </p:sp>
      <p:sp>
        <p:nvSpPr>
          <p:cNvPr id="36" name="Text 30"/>
          <p:cNvSpPr/>
          <p:nvPr/>
        </p:nvSpPr>
        <p:spPr>
          <a:xfrm>
            <a:off x="11183112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2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2476195" cy="310896"/>
          </a:xfrm>
          <a:prstGeom prst="roundRect">
            <a:avLst>
              <a:gd name="adj" fmla="val 50000"/>
            </a:avLst>
          </a:prstGeom>
          <a:solidFill>
            <a:srgbClr val="5FA83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02920"/>
            <a:ext cx="24761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TEHNILINE ARHITEKTUUR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868680"/>
            <a:ext cx="11055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Selge moodulipiir, valitud tööriistad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5074920" cy="3950208"/>
          </a:xfrm>
          <a:prstGeom prst="roundRect">
            <a:avLst>
              <a:gd name="adj" fmla="val 2315"/>
            </a:avLst>
          </a:prstGeom>
          <a:solidFill>
            <a:srgbClr val="123A44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1965960"/>
            <a:ext cx="548640" cy="548640"/>
          </a:xfrm>
          <a:prstGeom prst="ellipse">
            <a:avLst/>
          </a:prstGeom>
          <a:solidFill>
            <a:srgbClr val="9BE56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2922" y="2097634"/>
            <a:ext cx="285293" cy="28529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81328" y="2002536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Tehnoloogiavalik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877824" y="2642616"/>
            <a:ext cx="109728" cy="109728"/>
          </a:xfrm>
          <a:prstGeom prst="ellipse">
            <a:avLst/>
          </a:prstGeom>
          <a:solidFill>
            <a:srgbClr val="9BE564"/>
          </a:solidFill>
          <a:ln/>
        </p:spPr>
      </p:sp>
      <p:sp>
        <p:nvSpPr>
          <p:cNvPr id="10" name="Text 7"/>
          <p:cNvSpPr/>
          <p:nvPr/>
        </p:nvSpPr>
        <p:spPr>
          <a:xfrm>
            <a:off x="1115568" y="25146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pandas · numpy  </a:t>
            </a:r>
            <a:pPr algn="l" indent="0" marL="0">
              <a:buNone/>
            </a:pPr>
            <a:r>
              <a:rPr lang="en-US" sz="1250" dirty="0">
                <a:solidFill>
                  <a:srgbClr val="9DB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andmetöötlus ja näitajad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77824" y="3154680"/>
            <a:ext cx="109728" cy="109728"/>
          </a:xfrm>
          <a:prstGeom prst="ellipse">
            <a:avLst/>
          </a:prstGeom>
          <a:solidFill>
            <a:srgbClr val="9BE564"/>
          </a:solidFill>
          <a:ln/>
        </p:spPr>
      </p:sp>
      <p:sp>
        <p:nvSpPr>
          <p:cNvPr id="12" name="Text 9"/>
          <p:cNvSpPr/>
          <p:nvPr/>
        </p:nvSpPr>
        <p:spPr>
          <a:xfrm>
            <a:off x="1115568" y="302666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 </a:t>
            </a:r>
            <a:pPr algn="l" indent="0" marL="0">
              <a:buNone/>
            </a:pPr>
            <a:r>
              <a:rPr lang="en-US" sz="1250" dirty="0">
                <a:solidFill>
                  <a:srgbClr val="9DB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veebirakenduse raam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77824" y="3666744"/>
            <a:ext cx="109728" cy="109728"/>
          </a:xfrm>
          <a:prstGeom prst="ellipse">
            <a:avLst/>
          </a:prstGeom>
          <a:solidFill>
            <a:srgbClr val="9BE564"/>
          </a:solidFill>
          <a:ln/>
        </p:spPr>
      </p:sp>
      <p:sp>
        <p:nvSpPr>
          <p:cNvPr id="14" name="Text 11"/>
          <p:cNvSpPr/>
          <p:nvPr/>
        </p:nvSpPr>
        <p:spPr>
          <a:xfrm>
            <a:off x="1115568" y="353872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(Postgres + RLS)  </a:t>
            </a:r>
            <a:pPr algn="l" indent="0" marL="0">
              <a:buNone/>
            </a:pPr>
            <a:r>
              <a:rPr lang="en-US" sz="1250" dirty="0">
                <a:solidFill>
                  <a:srgbClr val="9DB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autentimine + mitme kasutaja andmed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77824" y="4178808"/>
            <a:ext cx="109728" cy="109728"/>
          </a:xfrm>
          <a:prstGeom prst="ellipse">
            <a:avLst/>
          </a:prstGeom>
          <a:solidFill>
            <a:srgbClr val="9BE564"/>
          </a:solidFill>
          <a:ln/>
        </p:spPr>
      </p:sp>
      <p:sp>
        <p:nvSpPr>
          <p:cNvPr id="16" name="Text 13"/>
          <p:cNvSpPr/>
          <p:nvPr/>
        </p:nvSpPr>
        <p:spPr>
          <a:xfrm>
            <a:off x="1115568" y="405079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API  </a:t>
            </a:r>
            <a:pPr algn="l" indent="0" marL="0">
              <a:buNone/>
            </a:pPr>
            <a:r>
              <a:rPr lang="en-US" sz="1250" dirty="0">
                <a:solidFill>
                  <a:srgbClr val="9DB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Claude / OpenAI / OpenRouter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877824" y="4690872"/>
            <a:ext cx="109728" cy="109728"/>
          </a:xfrm>
          <a:prstGeom prst="ellipse">
            <a:avLst/>
          </a:prstGeom>
          <a:solidFill>
            <a:srgbClr val="9BE564"/>
          </a:solidFill>
          <a:ln/>
        </p:spPr>
      </p:sp>
      <p:sp>
        <p:nvSpPr>
          <p:cNvPr id="18" name="Text 15"/>
          <p:cNvSpPr/>
          <p:nvPr/>
        </p:nvSpPr>
        <p:spPr>
          <a:xfrm>
            <a:off x="1115568" y="456285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 </a:t>
            </a:r>
            <a:pPr algn="l" indent="0" marL="0">
              <a:buNone/>
            </a:pPr>
            <a:r>
              <a:rPr lang="en-US" sz="1250" dirty="0">
                <a:solidFill>
                  <a:srgbClr val="9DB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ACWR-trendi prognoos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877824" y="5202936"/>
            <a:ext cx="109728" cy="109728"/>
          </a:xfrm>
          <a:prstGeom prst="ellipse">
            <a:avLst/>
          </a:prstGeom>
          <a:solidFill>
            <a:srgbClr val="9BE564"/>
          </a:solidFill>
          <a:ln/>
        </p:spPr>
      </p:sp>
      <p:sp>
        <p:nvSpPr>
          <p:cNvPr id="20" name="Text 17"/>
          <p:cNvSpPr/>
          <p:nvPr/>
        </p:nvSpPr>
        <p:spPr>
          <a:xfrm>
            <a:off x="1115568" y="50749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· SQLite  </a:t>
            </a:r>
            <a:pPr algn="l" indent="0" marL="0">
              <a:buNone/>
            </a:pPr>
            <a:r>
              <a:rPr lang="en-US" sz="1250" dirty="0">
                <a:solidFill>
                  <a:srgbClr val="9DB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graafikud · lokaalne vahemälu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6007608" y="1783080"/>
            <a:ext cx="5614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9BE5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Koodi moodulid</a:t>
            </a:r>
            <a:endParaRPr lang="en-US" sz="1550" dirty="0"/>
          </a:p>
        </p:txBody>
      </p:sp>
      <p:sp>
        <p:nvSpPr>
          <p:cNvPr id="22" name="Shape 19"/>
          <p:cNvSpPr/>
          <p:nvPr/>
        </p:nvSpPr>
        <p:spPr>
          <a:xfrm>
            <a:off x="6007608" y="2194560"/>
            <a:ext cx="2670048" cy="621792"/>
          </a:xfrm>
          <a:prstGeom prst="roundRect">
            <a:avLst>
              <a:gd name="adj" fmla="val 14706"/>
            </a:avLst>
          </a:prstGeom>
          <a:solidFill>
            <a:srgbClr val="123A44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007608" y="2194560"/>
            <a:ext cx="91440" cy="621792"/>
          </a:xfrm>
          <a:prstGeom prst="rect">
            <a:avLst/>
          </a:prstGeom>
          <a:solidFill>
            <a:srgbClr val="1AA0A8"/>
          </a:solidFill>
          <a:ln/>
        </p:spPr>
      </p:sp>
      <p:sp>
        <p:nvSpPr>
          <p:cNvPr id="24" name="Text 21"/>
          <p:cNvSpPr/>
          <p:nvPr/>
        </p:nvSpPr>
        <p:spPr>
          <a:xfrm>
            <a:off x="6263640" y="2276856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vorm/data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6263640" y="2560320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DB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+ salvestus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8951976" y="2194560"/>
            <a:ext cx="2670048" cy="621792"/>
          </a:xfrm>
          <a:prstGeom prst="roundRect">
            <a:avLst>
              <a:gd name="adj" fmla="val 14706"/>
            </a:avLst>
          </a:prstGeom>
          <a:solidFill>
            <a:srgbClr val="123A44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8951976" y="2194560"/>
            <a:ext cx="91440" cy="621792"/>
          </a:xfrm>
          <a:prstGeom prst="rect">
            <a:avLst/>
          </a:prstGeom>
          <a:solidFill>
            <a:srgbClr val="1AA0A8"/>
          </a:solidFill>
          <a:ln/>
        </p:spPr>
      </p:sp>
      <p:sp>
        <p:nvSpPr>
          <p:cNvPr id="28" name="Text 25"/>
          <p:cNvSpPr/>
          <p:nvPr/>
        </p:nvSpPr>
        <p:spPr>
          <a:xfrm>
            <a:off x="9208008" y="2276856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vorm/metrics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9208008" y="2560320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DB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ACWR · TRIMP · TSB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6007608" y="2999232"/>
            <a:ext cx="2670048" cy="621792"/>
          </a:xfrm>
          <a:prstGeom prst="roundRect">
            <a:avLst>
              <a:gd name="adj" fmla="val 14706"/>
            </a:avLst>
          </a:prstGeom>
          <a:solidFill>
            <a:srgbClr val="123A44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007608" y="2999232"/>
            <a:ext cx="91440" cy="621792"/>
          </a:xfrm>
          <a:prstGeom prst="rect">
            <a:avLst/>
          </a:prstGeom>
          <a:solidFill>
            <a:srgbClr val="1AA0A8"/>
          </a:solidFill>
          <a:ln/>
        </p:spPr>
      </p:sp>
      <p:sp>
        <p:nvSpPr>
          <p:cNvPr id="32" name="Text 29"/>
          <p:cNvSpPr/>
          <p:nvPr/>
        </p:nvSpPr>
        <p:spPr>
          <a:xfrm>
            <a:off x="6263640" y="3081528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vorm/rules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6263640" y="3364992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DB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ohutusfiltrid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8951976" y="2999232"/>
            <a:ext cx="2670048" cy="621792"/>
          </a:xfrm>
          <a:prstGeom prst="roundRect">
            <a:avLst>
              <a:gd name="adj" fmla="val 14706"/>
            </a:avLst>
          </a:prstGeom>
          <a:solidFill>
            <a:srgbClr val="123A44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8951976" y="2999232"/>
            <a:ext cx="91440" cy="621792"/>
          </a:xfrm>
          <a:prstGeom prst="rect">
            <a:avLst/>
          </a:prstGeom>
          <a:solidFill>
            <a:srgbClr val="1AA0A8"/>
          </a:solidFill>
          <a:ln/>
        </p:spPr>
      </p:sp>
      <p:sp>
        <p:nvSpPr>
          <p:cNvPr id="36" name="Text 33"/>
          <p:cNvSpPr/>
          <p:nvPr/>
        </p:nvSpPr>
        <p:spPr>
          <a:xfrm>
            <a:off x="9208008" y="3081528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vorm/llm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9208008" y="3364992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DB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+ JSON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6007608" y="3803904"/>
            <a:ext cx="2670048" cy="621792"/>
          </a:xfrm>
          <a:prstGeom prst="roundRect">
            <a:avLst>
              <a:gd name="adj" fmla="val 14706"/>
            </a:avLst>
          </a:prstGeom>
          <a:solidFill>
            <a:srgbClr val="123A44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6007608" y="3803904"/>
            <a:ext cx="91440" cy="621792"/>
          </a:xfrm>
          <a:prstGeom prst="rect">
            <a:avLst/>
          </a:prstGeom>
          <a:solidFill>
            <a:srgbClr val="1AA0A8"/>
          </a:solidFill>
          <a:ln/>
        </p:spPr>
      </p:sp>
      <p:sp>
        <p:nvSpPr>
          <p:cNvPr id="40" name="Text 37"/>
          <p:cNvSpPr/>
          <p:nvPr/>
        </p:nvSpPr>
        <p:spPr>
          <a:xfrm>
            <a:off x="6263640" y="3886200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vorm/planning</a:t>
            </a:r>
            <a:endParaRPr lang="en-US" sz="1300" dirty="0"/>
          </a:p>
        </p:txBody>
      </p:sp>
      <p:sp>
        <p:nvSpPr>
          <p:cNvPr id="41" name="Text 38"/>
          <p:cNvSpPr/>
          <p:nvPr/>
        </p:nvSpPr>
        <p:spPr>
          <a:xfrm>
            <a:off x="6263640" y="4169664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DB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treeningkava</a:t>
            </a:r>
            <a:endParaRPr lang="en-US" sz="1050" dirty="0"/>
          </a:p>
        </p:txBody>
      </p:sp>
      <p:sp>
        <p:nvSpPr>
          <p:cNvPr id="42" name="Shape 39"/>
          <p:cNvSpPr/>
          <p:nvPr/>
        </p:nvSpPr>
        <p:spPr>
          <a:xfrm>
            <a:off x="8951976" y="3803904"/>
            <a:ext cx="2670048" cy="621792"/>
          </a:xfrm>
          <a:prstGeom prst="roundRect">
            <a:avLst>
              <a:gd name="adj" fmla="val 14706"/>
            </a:avLst>
          </a:prstGeom>
          <a:solidFill>
            <a:srgbClr val="123A44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8951976" y="3803904"/>
            <a:ext cx="91440" cy="621792"/>
          </a:xfrm>
          <a:prstGeom prst="rect">
            <a:avLst/>
          </a:prstGeom>
          <a:solidFill>
            <a:srgbClr val="1AA0A8"/>
          </a:solidFill>
          <a:ln/>
        </p:spPr>
      </p:sp>
      <p:sp>
        <p:nvSpPr>
          <p:cNvPr id="44" name="Text 41"/>
          <p:cNvSpPr/>
          <p:nvPr/>
        </p:nvSpPr>
        <p:spPr>
          <a:xfrm>
            <a:off x="9208008" y="3886200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vorm/validation</a:t>
            </a:r>
            <a:endParaRPr lang="en-US" sz="1300" dirty="0"/>
          </a:p>
        </p:txBody>
      </p:sp>
      <p:sp>
        <p:nvSpPr>
          <p:cNvPr id="45" name="Text 42"/>
          <p:cNvSpPr/>
          <p:nvPr/>
        </p:nvSpPr>
        <p:spPr>
          <a:xfrm>
            <a:off x="9208008" y="4169664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DB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PDF-aruanne</a:t>
            </a:r>
            <a:endParaRPr lang="en-US" sz="1050" dirty="0"/>
          </a:p>
        </p:txBody>
      </p:sp>
      <p:sp>
        <p:nvSpPr>
          <p:cNvPr id="46" name="Shape 43"/>
          <p:cNvSpPr/>
          <p:nvPr/>
        </p:nvSpPr>
        <p:spPr>
          <a:xfrm>
            <a:off x="6007608" y="4626864"/>
            <a:ext cx="5614416" cy="749808"/>
          </a:xfrm>
          <a:prstGeom prst="roundRect">
            <a:avLst>
              <a:gd name="adj" fmla="val 12195"/>
            </a:avLst>
          </a:prstGeom>
          <a:solidFill>
            <a:srgbClr val="0A242B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47" name="Text 44"/>
          <p:cNvSpPr/>
          <p:nvPr/>
        </p:nvSpPr>
        <p:spPr>
          <a:xfrm>
            <a:off x="6281928" y="4626864"/>
            <a:ext cx="50657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BE5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~9 800</a:t>
            </a:r>
            <a:pPr algn="l" indent="0" marL="0">
              <a:buNone/>
            </a:pPr>
            <a:r>
              <a:rPr lang="en-US" sz="1250" dirty="0">
                <a:solidFill>
                  <a:srgbClr val="9DB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rida koodi      </a:t>
            </a:r>
            <a:pPr algn="l" indent="0" marL="0">
              <a:buNone/>
            </a:pPr>
            <a:r>
              <a:rPr lang="en-US" sz="1800" b="1" dirty="0">
                <a:solidFill>
                  <a:srgbClr val="9BE5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pPr algn="l" indent="0" marL="0">
              <a:buNone/>
            </a:pPr>
            <a:r>
              <a:rPr lang="en-US" sz="1250" dirty="0">
                <a:solidFill>
                  <a:srgbClr val="9DB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testifaili      </a:t>
            </a:r>
            <a:pPr algn="l" indent="0" marL="0">
              <a:buNone/>
            </a:pPr>
            <a:r>
              <a:rPr lang="en-US" sz="1800" b="1" dirty="0">
                <a:solidFill>
                  <a:srgbClr val="9BE5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177</a:t>
            </a:r>
            <a:pPr algn="l" indent="0" marL="0">
              <a:buNone/>
            </a:pPr>
            <a:r>
              <a:rPr lang="en-US" sz="1250" dirty="0">
                <a:solidFill>
                  <a:srgbClr val="9DB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ühiktesti</a:t>
            </a:r>
            <a:endParaRPr lang="en-US" sz="1250" dirty="0"/>
          </a:p>
        </p:txBody>
      </p:sp>
      <p:sp>
        <p:nvSpPr>
          <p:cNvPr id="48" name="Text 45"/>
          <p:cNvSpPr/>
          <p:nvPr/>
        </p:nvSpPr>
        <p:spPr>
          <a:xfrm>
            <a:off x="566928" y="6035040"/>
            <a:ext cx="11055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9BE5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Disainipõhimõtted:  </a:t>
            </a:r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on põhikomponent (mitte lisand) · reeglid turvafiltrina · LLM-ile saadetakse ainult agregeeritud näitajad (privaatsus).</a:t>
            </a:r>
            <a:endParaRPr lang="en-US" sz="1150" dirty="0"/>
          </a:p>
        </p:txBody>
      </p:sp>
      <p:sp>
        <p:nvSpPr>
          <p:cNvPr id="50" name="Text 46"/>
          <p:cNvSpPr/>
          <p:nvPr/>
        </p:nvSpPr>
        <p:spPr>
          <a:xfrm>
            <a:off x="566928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BE5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Vorm.ai</a:t>
            </a:r>
            <a:pPr algn="l" indent="0" marL="0">
              <a:buNone/>
            </a:pPr>
            <a:r>
              <a:rPr lang="en-US" sz="900" dirty="0">
                <a:solidFill>
                  <a:srgbClr val="9DB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AI-põhine treeningkoormuse analüüsija</a:t>
            </a:r>
            <a:endParaRPr lang="en-US" sz="900" dirty="0"/>
          </a:p>
        </p:txBody>
      </p:sp>
      <p:sp>
        <p:nvSpPr>
          <p:cNvPr id="51" name="Text 47"/>
          <p:cNvSpPr/>
          <p:nvPr/>
        </p:nvSpPr>
        <p:spPr>
          <a:xfrm>
            <a:off x="11183112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B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2278685" cy="310896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02920"/>
            <a:ext cx="227868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MITME KASUTAJA TUGI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868680"/>
            <a:ext cx="11055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430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Treener ja sportlane — üks platvorm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338328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CE3E1"/>
            </a:solidFill>
            <a:prstDash val="solid"/>
          </a:ln>
          <a:effectLst>
            <a:outerShdw sx="100000" sy="100000" kx="0" ky="0" algn="bl" rotWithShape="0" blurRad="114300" dist="38100" dir="8100000">
              <a:srgbClr val="0C2B33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95528" y="1997964"/>
            <a:ext cx="530352" cy="530352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2812" y="2125248"/>
            <a:ext cx="275783" cy="27578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35608" y="178308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430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Treener loob kutsekoodi</a:t>
            </a:r>
            <a:endParaRPr lang="en-US" sz="13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8506" y="2130552"/>
            <a:ext cx="256032" cy="2560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02836" y="1783080"/>
            <a:ext cx="338328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CE3E1"/>
            </a:solidFill>
            <a:prstDash val="solid"/>
          </a:ln>
          <a:effectLst>
            <a:outerShdw sx="100000" sy="100000" kx="0" ky="0" algn="bl" rotWithShape="0" blurRad="114300" dist="38100" dir="8100000">
              <a:srgbClr val="0C2B33">
                <a:alpha val="1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631436" y="1997964"/>
            <a:ext cx="530352" cy="530352"/>
          </a:xfrm>
          <a:prstGeom prst="ellipse">
            <a:avLst/>
          </a:prstGeom>
          <a:solidFill>
            <a:srgbClr val="ECA13A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8720" y="2125248"/>
            <a:ext cx="275783" cy="27578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271516" y="178308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430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Sportlane sisestab koodi</a:t>
            </a:r>
            <a:endParaRPr lang="en-US" sz="13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4414" y="2130552"/>
            <a:ext cx="256032" cy="256032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8238744" y="1783080"/>
            <a:ext cx="338328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CE3E1"/>
            </a:solidFill>
            <a:prstDash val="solid"/>
          </a:ln>
          <a:effectLst>
            <a:outerShdw sx="100000" sy="100000" kx="0" ky="0" algn="bl" rotWithShape="0" blurRad="114300" dist="38100" dir="8100000">
              <a:srgbClr val="0C2B33">
                <a:alpha val="16000"/>
              </a:srgbClr>
            </a:outerShdw>
          </a:effectLst>
        </p:spPr>
      </p:sp>
      <p:sp>
        <p:nvSpPr>
          <p:cNvPr id="16" name="Shape 10"/>
          <p:cNvSpPr/>
          <p:nvPr/>
        </p:nvSpPr>
        <p:spPr>
          <a:xfrm>
            <a:off x="8467344" y="1997964"/>
            <a:ext cx="530352" cy="530352"/>
          </a:xfrm>
          <a:prstGeom prst="ellipse">
            <a:avLst/>
          </a:prstGeom>
          <a:solidFill>
            <a:srgbClr val="5FA83A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4628" y="2125248"/>
            <a:ext cx="275783" cy="275783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9107424" y="178308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430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Seos aktiivne — andmed jagatud</a:t>
            </a:r>
            <a:endParaRPr lang="en-US" sz="1350" dirty="0"/>
          </a:p>
        </p:txBody>
      </p:sp>
      <p:sp>
        <p:nvSpPr>
          <p:cNvPr id="19" name="Shape 12"/>
          <p:cNvSpPr/>
          <p:nvPr/>
        </p:nvSpPr>
        <p:spPr>
          <a:xfrm>
            <a:off x="566928" y="2971800"/>
            <a:ext cx="3471672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DCE3E1"/>
            </a:solidFill>
            <a:prstDash val="solid"/>
          </a:ln>
          <a:effectLst>
            <a:outerShdw sx="100000" sy="100000" kx="0" ky="0" algn="bl" rotWithShape="0" blurRad="114300" dist="38100" dir="8100000">
              <a:srgbClr val="0C2B33">
                <a:alpha val="16000"/>
              </a:srgbClr>
            </a:outerShdw>
          </a:effectLst>
        </p:spPr>
      </p:sp>
      <p:sp>
        <p:nvSpPr>
          <p:cNvPr id="20" name="Shape 13"/>
          <p:cNvSpPr/>
          <p:nvPr/>
        </p:nvSpPr>
        <p:spPr>
          <a:xfrm>
            <a:off x="822960" y="3246120"/>
            <a:ext cx="640080" cy="64008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6579" y="3399739"/>
            <a:ext cx="332842" cy="332842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822960" y="3995928"/>
            <a:ext cx="3014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30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Rollipõhine konto</a:t>
            </a:r>
            <a:endParaRPr lang="en-US" sz="1500" dirty="0"/>
          </a:p>
        </p:txBody>
      </p:sp>
      <p:sp>
        <p:nvSpPr>
          <p:cNvPr id="23" name="Text 15"/>
          <p:cNvSpPr/>
          <p:nvPr/>
        </p:nvSpPr>
        <p:spPr>
          <a:xfrm>
            <a:off x="822960" y="4389120"/>
            <a:ext cx="3014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Registreerumisel valid: sportlane või treener. Roll juhib kogu kasutajakogemust.</a:t>
            </a:r>
            <a:endParaRPr lang="en-US" sz="1150" dirty="0"/>
          </a:p>
        </p:txBody>
      </p:sp>
      <p:sp>
        <p:nvSpPr>
          <p:cNvPr id="24" name="Shape 16"/>
          <p:cNvSpPr/>
          <p:nvPr/>
        </p:nvSpPr>
        <p:spPr>
          <a:xfrm>
            <a:off x="4358640" y="2971800"/>
            <a:ext cx="3471672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DCE3E1"/>
            </a:solidFill>
            <a:prstDash val="solid"/>
          </a:ln>
          <a:effectLst>
            <a:outerShdw sx="100000" sy="100000" kx="0" ky="0" algn="bl" rotWithShape="0" blurRad="114300" dist="38100" dir="8100000">
              <a:srgbClr val="0C2B33">
                <a:alpha val="16000"/>
              </a:srgbClr>
            </a:outerShdw>
          </a:effectLst>
        </p:spPr>
      </p:sp>
      <p:sp>
        <p:nvSpPr>
          <p:cNvPr id="25" name="Shape 17"/>
          <p:cNvSpPr/>
          <p:nvPr/>
        </p:nvSpPr>
        <p:spPr>
          <a:xfrm>
            <a:off x="4614672" y="3246120"/>
            <a:ext cx="640080" cy="640080"/>
          </a:xfrm>
          <a:prstGeom prst="ellipse">
            <a:avLst/>
          </a:prstGeom>
          <a:solidFill>
            <a:srgbClr val="ECA13A"/>
          </a:solidFill>
          <a:ln/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8291" y="3399739"/>
            <a:ext cx="332842" cy="332842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4614672" y="3995928"/>
            <a:ext cx="3014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30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Treeneri töölaud</a:t>
            </a:r>
            <a:endParaRPr lang="en-US" sz="1500" dirty="0"/>
          </a:p>
        </p:txBody>
      </p:sp>
      <p:sp>
        <p:nvSpPr>
          <p:cNvPr id="28" name="Text 19"/>
          <p:cNvSpPr/>
          <p:nvPr/>
        </p:nvSpPr>
        <p:spPr>
          <a:xfrm>
            <a:off x="4614672" y="4389120"/>
            <a:ext cx="3014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Treener näeb seotud sportlaste koormust ja sisestab §4.2 pimeotsuse otse sportlase konteksti.</a:t>
            </a:r>
            <a:endParaRPr lang="en-US" sz="1150" dirty="0"/>
          </a:p>
        </p:txBody>
      </p:sp>
      <p:sp>
        <p:nvSpPr>
          <p:cNvPr id="29" name="Shape 20"/>
          <p:cNvSpPr/>
          <p:nvPr/>
        </p:nvSpPr>
        <p:spPr>
          <a:xfrm>
            <a:off x="8150352" y="2971800"/>
            <a:ext cx="3471672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DCE3E1"/>
            </a:solidFill>
            <a:prstDash val="solid"/>
          </a:ln>
          <a:effectLst>
            <a:outerShdw sx="100000" sy="100000" kx="0" ky="0" algn="bl" rotWithShape="0" blurRad="114300" dist="38100" dir="8100000">
              <a:srgbClr val="0C2B33">
                <a:alpha val="16000"/>
              </a:srgbClr>
            </a:outerShdw>
          </a:effectLst>
        </p:spPr>
      </p:sp>
      <p:sp>
        <p:nvSpPr>
          <p:cNvPr id="30" name="Shape 21"/>
          <p:cNvSpPr/>
          <p:nvPr/>
        </p:nvSpPr>
        <p:spPr>
          <a:xfrm>
            <a:off x="8406384" y="3246120"/>
            <a:ext cx="640080" cy="640080"/>
          </a:xfrm>
          <a:prstGeom prst="ellipse">
            <a:avLst/>
          </a:prstGeom>
          <a:solidFill>
            <a:srgbClr val="5FA83A"/>
          </a:solidFill>
          <a:ln/>
        </p:spPr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60003" y="3399739"/>
            <a:ext cx="332842" cy="332842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8406384" y="3995928"/>
            <a:ext cx="3014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30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Turvalisus &amp; nõusolek</a:t>
            </a:r>
            <a:endParaRPr lang="en-US" sz="1500" dirty="0"/>
          </a:p>
        </p:txBody>
      </p:sp>
      <p:sp>
        <p:nvSpPr>
          <p:cNvPr id="33" name="Text 23"/>
          <p:cNvSpPr/>
          <p:nvPr/>
        </p:nvSpPr>
        <p:spPr>
          <a:xfrm>
            <a:off x="8406384" y="4389120"/>
            <a:ext cx="3014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Row-Level Security isoleerib read; andmete jagamiseks annab sportlane eraldi nõusoleku.</a:t>
            </a:r>
            <a:endParaRPr lang="en-US" sz="1150" dirty="0"/>
          </a:p>
        </p:txBody>
      </p:sp>
      <p:sp>
        <p:nvSpPr>
          <p:cNvPr id="34" name="Shape 24"/>
          <p:cNvSpPr/>
          <p:nvPr/>
        </p:nvSpPr>
        <p:spPr>
          <a:xfrm>
            <a:off x="566928" y="5440680"/>
            <a:ext cx="11055096" cy="713232"/>
          </a:xfrm>
          <a:prstGeom prst="roundRect">
            <a:avLst>
              <a:gd name="adj" fmla="val 12821"/>
            </a:avLst>
          </a:prstGeom>
          <a:solidFill>
            <a:srgbClr val="0C2B33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5" name="Text 25"/>
          <p:cNvSpPr/>
          <p:nvPr/>
        </p:nvSpPr>
        <p:spPr>
          <a:xfrm>
            <a:off x="932688" y="5440680"/>
            <a:ext cx="103235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BE5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Seos valideerimisega:  </a:t>
            </a:r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sama mehhanism toidab §4.2 valideerimist — treener sisestab oma otsuse mudeli väljundit nägemata (pimemenetlus).</a:t>
            </a:r>
            <a:endParaRPr lang="en-US" sz="1300" dirty="0"/>
          </a:p>
        </p:txBody>
      </p:sp>
      <p:sp>
        <p:nvSpPr>
          <p:cNvPr id="37" name="Text 26"/>
          <p:cNvSpPr/>
          <p:nvPr/>
        </p:nvSpPr>
        <p:spPr>
          <a:xfrm>
            <a:off x="566928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Vorm.ai</a:t>
            </a:r>
            <a:pPr algn="l" indent="0" marL="0">
              <a:buNone/>
            </a:pPr>
            <a:r>
              <a:rPr lang="en-US" sz="90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AI-põhine treeningkoormuse analüüsija</a:t>
            </a:r>
            <a:endParaRPr lang="en-US" sz="900" dirty="0"/>
          </a:p>
        </p:txBody>
      </p:sp>
      <p:sp>
        <p:nvSpPr>
          <p:cNvPr id="38" name="Text 27"/>
          <p:cNvSpPr/>
          <p:nvPr/>
        </p:nvSpPr>
        <p:spPr>
          <a:xfrm>
            <a:off x="11183112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1784909" cy="310896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02920"/>
            <a:ext cx="178490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KASUTAJALIIDES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868680"/>
            <a:ext cx="11055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430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Töötav veebirakendus, mitte makett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7315200" cy="370332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DCE3E1"/>
            </a:solidFill>
            <a:prstDash val="solid"/>
          </a:ln>
          <a:effectLst>
            <a:outerShdw sx="100000" sy="100000" kx="0" ky="0" algn="bl" rotWithShape="0" blurRad="114300" dist="38100" dir="8100000">
              <a:srgbClr val="0C2B33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1783080"/>
            <a:ext cx="7315200" cy="384048"/>
          </a:xfrm>
          <a:prstGeom prst="rect">
            <a:avLst/>
          </a:prstGeom>
          <a:solidFill>
            <a:srgbClr val="0C2B33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1920240"/>
            <a:ext cx="109728" cy="109728"/>
          </a:xfrm>
          <a:prstGeom prst="ellipse">
            <a:avLst/>
          </a:prstGeom>
          <a:solidFill>
            <a:srgbClr val="E5645E"/>
          </a:solidFill>
          <a:ln/>
        </p:spPr>
      </p:sp>
      <p:sp>
        <p:nvSpPr>
          <p:cNvPr id="8" name="Shape 6"/>
          <p:cNvSpPr/>
          <p:nvPr/>
        </p:nvSpPr>
        <p:spPr>
          <a:xfrm>
            <a:off x="950976" y="1920240"/>
            <a:ext cx="109728" cy="109728"/>
          </a:xfrm>
          <a:prstGeom prst="ellipse">
            <a:avLst/>
          </a:prstGeom>
          <a:solidFill>
            <a:srgbClr val="ECA13A"/>
          </a:solidFill>
          <a:ln/>
        </p:spPr>
      </p:sp>
      <p:sp>
        <p:nvSpPr>
          <p:cNvPr id="9" name="Shape 7"/>
          <p:cNvSpPr/>
          <p:nvPr/>
        </p:nvSpPr>
        <p:spPr>
          <a:xfrm>
            <a:off x="1152144" y="1920240"/>
            <a:ext cx="109728" cy="109728"/>
          </a:xfrm>
          <a:prstGeom prst="ellipse">
            <a:avLst/>
          </a:prstGeom>
          <a:solidFill>
            <a:srgbClr val="9BE564"/>
          </a:solidFill>
          <a:ln/>
        </p:spPr>
      </p:sp>
      <p:sp>
        <p:nvSpPr>
          <p:cNvPr id="10" name="Text 8"/>
          <p:cNvSpPr/>
          <p:nvPr/>
        </p:nvSpPr>
        <p:spPr>
          <a:xfrm>
            <a:off x="1481328" y="1783080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DB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vorm.ai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31520" y="2286000"/>
            <a:ext cx="1110996" cy="310896"/>
          </a:xfrm>
          <a:prstGeom prst="roundRect">
            <a:avLst>
              <a:gd name="adj" fmla="val 17647"/>
            </a:avLst>
          </a:prstGeom>
          <a:solidFill>
            <a:srgbClr val="0E7C86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286000"/>
            <a:ext cx="11109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Tänane soovitus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915668" y="2286000"/>
            <a:ext cx="1174090" cy="310896"/>
          </a:xfrm>
          <a:prstGeom prst="roundRect">
            <a:avLst>
              <a:gd name="adj" fmla="val 17647"/>
            </a:avLst>
          </a:prstGeom>
          <a:solidFill>
            <a:srgbClr val="EEF2F1"/>
          </a:solidFill>
          <a:ln/>
        </p:spPr>
      </p:sp>
      <p:sp>
        <p:nvSpPr>
          <p:cNvPr id="14" name="Text 12"/>
          <p:cNvSpPr/>
          <p:nvPr/>
        </p:nvSpPr>
        <p:spPr>
          <a:xfrm>
            <a:off x="1915668" y="2286000"/>
            <a:ext cx="11740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Koormuse ajalugu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162910" y="2286000"/>
            <a:ext cx="984809" cy="310896"/>
          </a:xfrm>
          <a:prstGeom prst="roundRect">
            <a:avLst>
              <a:gd name="adj" fmla="val 17647"/>
            </a:avLst>
          </a:prstGeom>
          <a:solidFill>
            <a:srgbClr val="EEF2F1"/>
          </a:solidFill>
          <a:ln/>
        </p:spPr>
      </p:sp>
      <p:sp>
        <p:nvSpPr>
          <p:cNvPr id="16" name="Text 14"/>
          <p:cNvSpPr/>
          <p:nvPr/>
        </p:nvSpPr>
        <p:spPr>
          <a:xfrm>
            <a:off x="3162910" y="2286000"/>
            <a:ext cx="98480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Retrospektiiv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220870" y="2286000"/>
            <a:ext cx="921715" cy="310896"/>
          </a:xfrm>
          <a:prstGeom prst="roundRect">
            <a:avLst>
              <a:gd name="adj" fmla="val 17647"/>
            </a:avLst>
          </a:prstGeom>
          <a:solidFill>
            <a:srgbClr val="EEF2F1"/>
          </a:solidFill>
          <a:ln/>
        </p:spPr>
      </p:sp>
      <p:sp>
        <p:nvSpPr>
          <p:cNvPr id="18" name="Text 16"/>
          <p:cNvSpPr/>
          <p:nvPr/>
        </p:nvSpPr>
        <p:spPr>
          <a:xfrm>
            <a:off x="4220870" y="2286000"/>
            <a:ext cx="9217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Treeningkava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215738" y="2286000"/>
            <a:ext cx="732434" cy="310896"/>
          </a:xfrm>
          <a:prstGeom prst="roundRect">
            <a:avLst>
              <a:gd name="adj" fmla="val 17647"/>
            </a:avLst>
          </a:prstGeom>
          <a:solidFill>
            <a:srgbClr val="EEF2F1"/>
          </a:solidFill>
          <a:ln/>
        </p:spPr>
      </p:sp>
      <p:sp>
        <p:nvSpPr>
          <p:cNvPr id="20" name="Text 18"/>
          <p:cNvSpPr/>
          <p:nvPr/>
        </p:nvSpPr>
        <p:spPr>
          <a:xfrm>
            <a:off x="5215738" y="2286000"/>
            <a:ext cx="73243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Päevalogi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021324" y="2286000"/>
            <a:ext cx="1174090" cy="310896"/>
          </a:xfrm>
          <a:prstGeom prst="roundRect">
            <a:avLst>
              <a:gd name="adj" fmla="val 17647"/>
            </a:avLst>
          </a:prstGeom>
          <a:solidFill>
            <a:srgbClr val="EEF2F1"/>
          </a:solidFill>
          <a:ln/>
        </p:spPr>
      </p:sp>
      <p:sp>
        <p:nvSpPr>
          <p:cNvPr id="22" name="Text 20"/>
          <p:cNvSpPr/>
          <p:nvPr/>
        </p:nvSpPr>
        <p:spPr>
          <a:xfrm>
            <a:off x="6021324" y="2286000"/>
            <a:ext cx="11740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Treeneri võrdlus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95528" y="2788920"/>
            <a:ext cx="6858000" cy="713232"/>
          </a:xfrm>
          <a:prstGeom prst="roundRect">
            <a:avLst>
              <a:gd name="adj" fmla="val 7692"/>
            </a:avLst>
          </a:prstGeom>
          <a:solidFill>
            <a:srgbClr val="ECA13A"/>
          </a:solidFill>
          <a:ln/>
        </p:spPr>
      </p:sp>
      <p:sp>
        <p:nvSpPr>
          <p:cNvPr id="24" name="Shape 22"/>
          <p:cNvSpPr/>
          <p:nvPr/>
        </p:nvSpPr>
        <p:spPr>
          <a:xfrm>
            <a:off x="978408" y="2926080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747" y="3031419"/>
            <a:ext cx="228234" cy="228234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572768" y="2834640"/>
            <a:ext cx="6035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Vähenda intensiivsust</a:t>
            </a:r>
            <a:endParaRPr lang="en-US" sz="14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A2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ACWR 1,36 ↑ · RPE 8 · uni 6,1 h — täna kontrollitud tempo.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795528" y="3657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Koormuse trend (ACWR)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886968" y="4660174"/>
            <a:ext cx="475488" cy="186146"/>
          </a:xfrm>
          <a:prstGeom prst="rect">
            <a:avLst/>
          </a:prstGeom>
          <a:solidFill>
            <a:srgbClr val="1AA0A8"/>
          </a:solidFill>
          <a:ln/>
        </p:spPr>
      </p:sp>
      <p:sp>
        <p:nvSpPr>
          <p:cNvPr id="29" name="Shape 26"/>
          <p:cNvSpPr/>
          <p:nvPr/>
        </p:nvSpPr>
        <p:spPr>
          <a:xfrm>
            <a:off x="1691640" y="4548487"/>
            <a:ext cx="475488" cy="297833"/>
          </a:xfrm>
          <a:prstGeom prst="rect">
            <a:avLst/>
          </a:prstGeom>
          <a:solidFill>
            <a:srgbClr val="1AA0A8"/>
          </a:solidFill>
          <a:ln/>
        </p:spPr>
      </p:sp>
      <p:sp>
        <p:nvSpPr>
          <p:cNvPr id="30" name="Shape 27"/>
          <p:cNvSpPr/>
          <p:nvPr/>
        </p:nvSpPr>
        <p:spPr>
          <a:xfrm>
            <a:off x="2496312" y="4449209"/>
            <a:ext cx="475488" cy="397111"/>
          </a:xfrm>
          <a:prstGeom prst="rect">
            <a:avLst/>
          </a:prstGeom>
          <a:solidFill>
            <a:srgbClr val="1AA0A8"/>
          </a:solidFill>
          <a:ln/>
        </p:spPr>
      </p:sp>
      <p:sp>
        <p:nvSpPr>
          <p:cNvPr id="31" name="Shape 28"/>
          <p:cNvSpPr/>
          <p:nvPr/>
        </p:nvSpPr>
        <p:spPr>
          <a:xfrm>
            <a:off x="3300984" y="4275473"/>
            <a:ext cx="475488" cy="570847"/>
          </a:xfrm>
          <a:prstGeom prst="rect">
            <a:avLst/>
          </a:prstGeom>
          <a:solidFill>
            <a:srgbClr val="ECA13A"/>
          </a:solidFill>
          <a:ln/>
        </p:spPr>
      </p:sp>
      <p:sp>
        <p:nvSpPr>
          <p:cNvPr id="32" name="Shape 29"/>
          <p:cNvSpPr/>
          <p:nvPr/>
        </p:nvSpPr>
        <p:spPr>
          <a:xfrm>
            <a:off x="4105656" y="4126557"/>
            <a:ext cx="475488" cy="719763"/>
          </a:xfrm>
          <a:prstGeom prst="rect">
            <a:avLst/>
          </a:prstGeom>
          <a:solidFill>
            <a:srgbClr val="E5645E"/>
          </a:solidFill>
          <a:ln/>
        </p:spPr>
      </p:sp>
      <p:sp>
        <p:nvSpPr>
          <p:cNvPr id="33" name="Shape 30"/>
          <p:cNvSpPr/>
          <p:nvPr/>
        </p:nvSpPr>
        <p:spPr>
          <a:xfrm>
            <a:off x="4910328" y="4213425"/>
            <a:ext cx="475488" cy="632895"/>
          </a:xfrm>
          <a:prstGeom prst="rect">
            <a:avLst/>
          </a:prstGeom>
          <a:solidFill>
            <a:srgbClr val="ECA13A"/>
          </a:solidFill>
          <a:ln/>
        </p:spPr>
      </p:sp>
      <p:sp>
        <p:nvSpPr>
          <p:cNvPr id="34" name="Shape 31"/>
          <p:cNvSpPr/>
          <p:nvPr/>
        </p:nvSpPr>
        <p:spPr>
          <a:xfrm>
            <a:off x="5715000" y="4325112"/>
            <a:ext cx="475488" cy="521208"/>
          </a:xfrm>
          <a:prstGeom prst="rect">
            <a:avLst/>
          </a:prstGeom>
          <a:solidFill>
            <a:srgbClr val="ECA13A"/>
          </a:solidFill>
          <a:ln/>
        </p:spPr>
      </p:sp>
      <p:sp>
        <p:nvSpPr>
          <p:cNvPr id="35" name="Shape 32"/>
          <p:cNvSpPr/>
          <p:nvPr/>
        </p:nvSpPr>
        <p:spPr>
          <a:xfrm>
            <a:off x="6519672" y="4151376"/>
            <a:ext cx="475488" cy="694944"/>
          </a:xfrm>
          <a:prstGeom prst="rect">
            <a:avLst/>
          </a:prstGeom>
          <a:solidFill>
            <a:srgbClr val="E5645E"/>
          </a:solidFill>
          <a:ln/>
        </p:spPr>
      </p:sp>
      <p:sp>
        <p:nvSpPr>
          <p:cNvPr id="36" name="Shape 33"/>
          <p:cNvSpPr/>
          <p:nvPr/>
        </p:nvSpPr>
        <p:spPr>
          <a:xfrm>
            <a:off x="841248" y="4101737"/>
            <a:ext cx="6446520" cy="0"/>
          </a:xfrm>
          <a:prstGeom prst="line">
            <a:avLst/>
          </a:prstGeom>
          <a:noFill/>
          <a:ln w="12700">
            <a:solidFill>
              <a:srgbClr val="E5645E"/>
            </a:solidFill>
            <a:prstDash val="dash"/>
          </a:ln>
        </p:spPr>
      </p:sp>
      <p:sp>
        <p:nvSpPr>
          <p:cNvPr id="37" name="Text 34"/>
          <p:cNvSpPr/>
          <p:nvPr/>
        </p:nvSpPr>
        <p:spPr>
          <a:xfrm>
            <a:off x="6556248" y="3900569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56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ohulõige 1,5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8247888" y="1874520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3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7616" y="1984248"/>
            <a:ext cx="237744" cy="237744"/>
          </a:xfrm>
          <a:prstGeom prst="rect">
            <a:avLst/>
          </a:prstGeom>
        </p:spPr>
      </p:pic>
      <p:sp>
        <p:nvSpPr>
          <p:cNvPr id="40" name="Text 36"/>
          <p:cNvSpPr/>
          <p:nvPr/>
        </p:nvSpPr>
        <p:spPr>
          <a:xfrm>
            <a:off x="8851392" y="1837944"/>
            <a:ext cx="27706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töövaadet ühes rakenduses</a:t>
            </a:r>
            <a:endParaRPr lang="en-US" sz="1200" dirty="0"/>
          </a:p>
        </p:txBody>
      </p:sp>
      <p:sp>
        <p:nvSpPr>
          <p:cNvPr id="41" name="Shape 37"/>
          <p:cNvSpPr/>
          <p:nvPr/>
        </p:nvSpPr>
        <p:spPr>
          <a:xfrm>
            <a:off x="8247888" y="2496312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4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7616" y="2606040"/>
            <a:ext cx="237744" cy="237744"/>
          </a:xfrm>
          <a:prstGeom prst="rect">
            <a:avLst/>
          </a:prstGeom>
        </p:spPr>
      </p:pic>
      <p:sp>
        <p:nvSpPr>
          <p:cNvPr id="43" name="Text 38"/>
          <p:cNvSpPr/>
          <p:nvPr/>
        </p:nvSpPr>
        <p:spPr>
          <a:xfrm>
            <a:off x="8851392" y="2459736"/>
            <a:ext cx="27706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Hele / tume teema</a:t>
            </a:r>
            <a:endParaRPr lang="en-US" sz="1200" dirty="0"/>
          </a:p>
        </p:txBody>
      </p:sp>
      <p:sp>
        <p:nvSpPr>
          <p:cNvPr id="44" name="Shape 39"/>
          <p:cNvSpPr/>
          <p:nvPr/>
        </p:nvSpPr>
        <p:spPr>
          <a:xfrm>
            <a:off x="8247888" y="3118104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4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7616" y="3227832"/>
            <a:ext cx="237744" cy="237744"/>
          </a:xfrm>
          <a:prstGeom prst="rect">
            <a:avLst/>
          </a:prstGeom>
        </p:spPr>
      </p:pic>
      <p:sp>
        <p:nvSpPr>
          <p:cNvPr id="46" name="Text 40"/>
          <p:cNvSpPr/>
          <p:nvPr/>
        </p:nvSpPr>
        <p:spPr>
          <a:xfrm>
            <a:off x="8851392" y="3081528"/>
            <a:ext cx="27706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Külalisrežiim — proovi ilma kontota</a:t>
            </a:r>
            <a:endParaRPr lang="en-US" sz="1200" dirty="0"/>
          </a:p>
        </p:txBody>
      </p:sp>
      <p:sp>
        <p:nvSpPr>
          <p:cNvPr id="47" name="Shape 41"/>
          <p:cNvSpPr/>
          <p:nvPr/>
        </p:nvSpPr>
        <p:spPr>
          <a:xfrm>
            <a:off x="8247888" y="3739896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4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7616" y="3849624"/>
            <a:ext cx="237744" cy="237744"/>
          </a:xfrm>
          <a:prstGeom prst="rect">
            <a:avLst/>
          </a:prstGeom>
        </p:spPr>
      </p:pic>
      <p:sp>
        <p:nvSpPr>
          <p:cNvPr id="49" name="Text 42"/>
          <p:cNvSpPr/>
          <p:nvPr/>
        </p:nvSpPr>
        <p:spPr>
          <a:xfrm>
            <a:off x="8851392" y="3703320"/>
            <a:ext cx="27706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Onboarding-juhend uuele kasutajale</a:t>
            </a:r>
            <a:endParaRPr lang="en-US" sz="1200" dirty="0"/>
          </a:p>
        </p:txBody>
      </p:sp>
      <p:sp>
        <p:nvSpPr>
          <p:cNvPr id="50" name="Shape 43"/>
          <p:cNvSpPr/>
          <p:nvPr/>
        </p:nvSpPr>
        <p:spPr>
          <a:xfrm>
            <a:off x="8247888" y="4361688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5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7616" y="4471416"/>
            <a:ext cx="237744" cy="237744"/>
          </a:xfrm>
          <a:prstGeom prst="rect">
            <a:avLst/>
          </a:prstGeom>
        </p:spPr>
      </p:pic>
      <p:sp>
        <p:nvSpPr>
          <p:cNvPr id="52" name="Text 44"/>
          <p:cNvSpPr/>
          <p:nvPr/>
        </p:nvSpPr>
        <p:spPr>
          <a:xfrm>
            <a:off x="8851392" y="4325112"/>
            <a:ext cx="27706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Automaatne salvestus pilve</a:t>
            </a:r>
            <a:endParaRPr lang="en-US" sz="1200" dirty="0"/>
          </a:p>
        </p:txBody>
      </p:sp>
      <p:sp>
        <p:nvSpPr>
          <p:cNvPr id="53" name="Shape 45"/>
          <p:cNvSpPr/>
          <p:nvPr/>
        </p:nvSpPr>
        <p:spPr>
          <a:xfrm>
            <a:off x="8247888" y="4983480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5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57616" y="5093208"/>
            <a:ext cx="237744" cy="237744"/>
          </a:xfrm>
          <a:prstGeom prst="rect">
            <a:avLst/>
          </a:prstGeom>
        </p:spPr>
      </p:pic>
      <p:sp>
        <p:nvSpPr>
          <p:cNvPr id="55" name="Text 46"/>
          <p:cNvSpPr/>
          <p:nvPr/>
        </p:nvSpPr>
        <p:spPr>
          <a:xfrm>
            <a:off x="8851392" y="4946904"/>
            <a:ext cx="27706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/ CSV eksport aruanneteks</a:t>
            </a:r>
            <a:endParaRPr lang="en-US" sz="1200" dirty="0"/>
          </a:p>
        </p:txBody>
      </p:sp>
      <p:sp>
        <p:nvSpPr>
          <p:cNvPr id="56" name="Text 47"/>
          <p:cNvSpPr/>
          <p:nvPr/>
        </p:nvSpPr>
        <p:spPr>
          <a:xfrm>
            <a:off x="566928" y="5669280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ka ilma LLM-võtmeta: </a:t>
            </a:r>
            <a:pPr algn="l" indent="0" marL="0">
              <a:buNone/>
            </a:pPr>
            <a:r>
              <a:rPr lang="en-US" sz="125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näitajad, ohutusreeglid ja graafikud töötavad; ainult soovituse tekst vajab mudelit.</a:t>
            </a:r>
            <a:endParaRPr lang="en-US" sz="1250" dirty="0"/>
          </a:p>
        </p:txBody>
      </p:sp>
      <p:sp>
        <p:nvSpPr>
          <p:cNvPr id="58" name="Text 48"/>
          <p:cNvSpPr/>
          <p:nvPr/>
        </p:nvSpPr>
        <p:spPr>
          <a:xfrm>
            <a:off x="566928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Vorm.ai</a:t>
            </a:r>
            <a:pPr algn="l" indent="0" marL="0">
              <a:buNone/>
            </a:pPr>
            <a:r>
              <a:rPr lang="en-US" sz="90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AI-põhine treeningkoormuse analüüsija</a:t>
            </a:r>
            <a:endParaRPr lang="en-US" sz="900" dirty="0"/>
          </a:p>
        </p:txBody>
      </p:sp>
      <p:sp>
        <p:nvSpPr>
          <p:cNvPr id="59" name="Text 49"/>
          <p:cNvSpPr/>
          <p:nvPr/>
        </p:nvSpPr>
        <p:spPr>
          <a:xfrm>
            <a:off x="11183112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1686154" cy="310896"/>
          </a:xfrm>
          <a:prstGeom prst="roundRect">
            <a:avLst>
              <a:gd name="adj" fmla="val 50000"/>
            </a:avLst>
          </a:prstGeom>
          <a:solidFill>
            <a:srgbClr val="5FA83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02920"/>
            <a:ext cx="168615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VALIDEERIMINE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868680"/>
            <a:ext cx="11055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430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Struktureeritud valideerimine, mitte ad-hoc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566928" y="1691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30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Kolmekihiline võrdlus iga päeva kohta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66928" y="2148840"/>
            <a:ext cx="502920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DCE3E1"/>
            </a:solidFill>
            <a:prstDash val="solid"/>
          </a:ln>
          <a:effectLst>
            <a:outerShdw sx="100000" sy="100000" kx="0" ky="0" algn="bl" rotWithShape="0" blurRad="114300" dist="38100" dir="8100000">
              <a:srgbClr val="0C2B33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95528" y="2340864"/>
            <a:ext cx="548640" cy="54864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7202" y="2472538"/>
            <a:ext cx="285293" cy="28529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81328" y="2276856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30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· LLM-i soovitus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481328" y="26060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Vorm.ai kategooria hommikuse konteksti põhjal.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66928" y="3191256"/>
            <a:ext cx="502920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DCE3E1"/>
            </a:solidFill>
            <a:prstDash val="solid"/>
          </a:ln>
          <a:effectLst>
            <a:outerShdw sx="100000" sy="100000" kx="0" ky="0" algn="bl" rotWithShape="0" blurRad="114300" dist="38100" dir="8100000">
              <a:srgbClr val="0C2B33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95528" y="3383280"/>
            <a:ext cx="548640" cy="548640"/>
          </a:xfrm>
          <a:prstGeom prst="ellipse">
            <a:avLst/>
          </a:prstGeom>
          <a:solidFill>
            <a:srgbClr val="ECA13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202" y="3514954"/>
            <a:ext cx="285293" cy="28529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81328" y="331927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30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· Treeneri otsus (pime)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1481328" y="364845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Ille Kukk otsustab mudeli väljundit nägemata.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66928" y="4233672"/>
            <a:ext cx="502920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DCE3E1"/>
            </a:solidFill>
            <a:prstDash val="solid"/>
          </a:ln>
          <a:effectLst>
            <a:outerShdw sx="100000" sy="100000" kx="0" ky="0" algn="bl" rotWithShape="0" blurRad="114300" dist="38100" dir="8100000">
              <a:srgbClr val="0C2B33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95528" y="4425696"/>
            <a:ext cx="548640" cy="548640"/>
          </a:xfrm>
          <a:prstGeom prst="ellipse">
            <a:avLst/>
          </a:prstGeom>
          <a:solidFill>
            <a:srgbClr val="5FA83A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202" y="4557370"/>
            <a:ext cx="285293" cy="28529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481328" y="436168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30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· Tegelik järgimine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1481328" y="469087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 sportlane järgis — ja mis juhtus järgmisel päeval.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6007608" y="1691640"/>
            <a:ext cx="5614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30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Neli valideerimismeetodit</a:t>
            </a:r>
            <a:endParaRPr lang="en-US" sz="1450" dirty="0"/>
          </a:p>
        </p:txBody>
      </p:sp>
      <p:sp>
        <p:nvSpPr>
          <p:cNvPr id="22" name="Shape 17"/>
          <p:cNvSpPr/>
          <p:nvPr/>
        </p:nvSpPr>
        <p:spPr>
          <a:xfrm>
            <a:off x="6007608" y="2103120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7336" y="2212848"/>
            <a:ext cx="237744" cy="23774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611112" y="2057400"/>
            <a:ext cx="5010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Retrospektiivne test — 30 mineviku päeva, sh kriitilised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6007608" y="2679192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7336" y="2788920"/>
            <a:ext cx="237744" cy="23774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611112" y="2633472"/>
            <a:ext cx="5010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Treeneri pimekõrvutus — 14 järjestikust päeva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6007608" y="3255264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17336" y="3364992"/>
            <a:ext cx="237744" cy="237744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6611112" y="3209544"/>
            <a:ext cx="5010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Igapäevane päevalogi — kasulikkus &amp; veenvus 1–5</a:t>
            </a:r>
            <a:endParaRPr lang="en-US" sz="1200" dirty="0"/>
          </a:p>
        </p:txBody>
      </p:sp>
      <p:sp>
        <p:nvSpPr>
          <p:cNvPr id="31" name="Shape 23"/>
          <p:cNvSpPr/>
          <p:nvPr/>
        </p:nvSpPr>
        <p:spPr>
          <a:xfrm>
            <a:off x="6007608" y="3831336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17336" y="3941064"/>
            <a:ext cx="237744" cy="237744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6611112" y="3785616"/>
            <a:ext cx="5010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struktureeritud intervjuud treeningkaaslastega</a:t>
            </a:r>
            <a:endParaRPr lang="en-US" sz="1200" dirty="0"/>
          </a:p>
        </p:txBody>
      </p:sp>
      <p:sp>
        <p:nvSpPr>
          <p:cNvPr id="34" name="Shape 25"/>
          <p:cNvSpPr/>
          <p:nvPr/>
        </p:nvSpPr>
        <p:spPr>
          <a:xfrm>
            <a:off x="6007608" y="4443984"/>
            <a:ext cx="5614416" cy="1371600"/>
          </a:xfrm>
          <a:prstGeom prst="roundRect">
            <a:avLst>
              <a:gd name="adj" fmla="val 6667"/>
            </a:avLst>
          </a:prstGeom>
          <a:solidFill>
            <a:srgbClr val="0C2B33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5" name="Text 26"/>
          <p:cNvSpPr/>
          <p:nvPr/>
        </p:nvSpPr>
        <p:spPr>
          <a:xfrm>
            <a:off x="6281928" y="4572000"/>
            <a:ext cx="5065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BE5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Kokkulangevuse skaala</a:t>
            </a:r>
            <a:endParaRPr lang="en-US" sz="1250" dirty="0"/>
          </a:p>
        </p:txBody>
      </p:sp>
      <p:sp>
        <p:nvSpPr>
          <p:cNvPr id="36" name="Shape 27"/>
          <p:cNvSpPr/>
          <p:nvPr/>
        </p:nvSpPr>
        <p:spPr>
          <a:xfrm>
            <a:off x="6281928" y="4937760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5FA83A"/>
          </a:solidFill>
          <a:ln/>
        </p:spPr>
      </p:sp>
      <p:sp>
        <p:nvSpPr>
          <p:cNvPr id="37" name="Text 28"/>
          <p:cNvSpPr/>
          <p:nvPr/>
        </p:nvSpPr>
        <p:spPr>
          <a:xfrm>
            <a:off x="6281928" y="493776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match</a:t>
            </a:r>
            <a:endParaRPr lang="en-US" sz="1050" dirty="0"/>
          </a:p>
        </p:txBody>
      </p:sp>
      <p:sp>
        <p:nvSpPr>
          <p:cNvPr id="38" name="Text 29"/>
          <p:cNvSpPr/>
          <p:nvPr/>
        </p:nvSpPr>
        <p:spPr>
          <a:xfrm>
            <a:off x="7470648" y="4937760"/>
            <a:ext cx="3877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sama kategooria</a:t>
            </a:r>
            <a:endParaRPr lang="en-US" sz="1100" dirty="0"/>
          </a:p>
        </p:txBody>
      </p:sp>
      <p:sp>
        <p:nvSpPr>
          <p:cNvPr id="39" name="Shape 30"/>
          <p:cNvSpPr/>
          <p:nvPr/>
        </p:nvSpPr>
        <p:spPr>
          <a:xfrm>
            <a:off x="6281928" y="5221224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ECA13A"/>
          </a:solidFill>
          <a:ln/>
        </p:spPr>
      </p:sp>
      <p:sp>
        <p:nvSpPr>
          <p:cNvPr id="40" name="Text 31"/>
          <p:cNvSpPr/>
          <p:nvPr/>
        </p:nvSpPr>
        <p:spPr>
          <a:xfrm>
            <a:off x="6281928" y="522122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close</a:t>
            </a:r>
            <a:endParaRPr lang="en-US" sz="1050" dirty="0"/>
          </a:p>
        </p:txBody>
      </p:sp>
      <p:sp>
        <p:nvSpPr>
          <p:cNvPr id="41" name="Text 32"/>
          <p:cNvSpPr/>
          <p:nvPr/>
        </p:nvSpPr>
        <p:spPr>
          <a:xfrm>
            <a:off x="7470648" y="5221224"/>
            <a:ext cx="3877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mõlemad ettevaatlikud</a:t>
            </a:r>
            <a:endParaRPr lang="en-US" sz="1100" dirty="0"/>
          </a:p>
        </p:txBody>
      </p:sp>
      <p:sp>
        <p:nvSpPr>
          <p:cNvPr id="42" name="Shape 33"/>
          <p:cNvSpPr/>
          <p:nvPr/>
        </p:nvSpPr>
        <p:spPr>
          <a:xfrm>
            <a:off x="6281928" y="5504688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E5645E"/>
          </a:solidFill>
          <a:ln/>
        </p:spPr>
      </p:sp>
      <p:sp>
        <p:nvSpPr>
          <p:cNvPr id="43" name="Text 34"/>
          <p:cNvSpPr/>
          <p:nvPr/>
        </p:nvSpPr>
        <p:spPr>
          <a:xfrm>
            <a:off x="6281928" y="550468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conflict</a:t>
            </a:r>
            <a:endParaRPr lang="en-US" sz="1050" dirty="0"/>
          </a:p>
        </p:txBody>
      </p:sp>
      <p:sp>
        <p:nvSpPr>
          <p:cNvPr id="44" name="Text 35"/>
          <p:cNvSpPr/>
          <p:nvPr/>
        </p:nvSpPr>
        <p:spPr>
          <a:xfrm>
            <a:off x="7470648" y="5504688"/>
            <a:ext cx="3877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vastandlikud suunad</a:t>
            </a:r>
            <a:endParaRPr lang="en-US" sz="1100" dirty="0"/>
          </a:p>
        </p:txBody>
      </p:sp>
      <p:sp>
        <p:nvSpPr>
          <p:cNvPr id="45" name="Text 36"/>
          <p:cNvSpPr/>
          <p:nvPr/>
        </p:nvSpPr>
        <p:spPr>
          <a:xfrm>
            <a:off x="566928" y="6053328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Juhtumiuuring:  </a:t>
            </a:r>
            <a:pPr algn="l" indent="0" marL="0">
              <a:buNone/>
            </a:pPr>
            <a:r>
              <a:rPr lang="en-US" sz="120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sportlane Enari Tõnström × treener Ille Kukk · 14 päeva (18.–31.05.2026).</a:t>
            </a:r>
            <a:endParaRPr lang="en-US" sz="1200" dirty="0"/>
          </a:p>
        </p:txBody>
      </p:sp>
      <p:sp>
        <p:nvSpPr>
          <p:cNvPr id="47" name="Text 37"/>
          <p:cNvSpPr/>
          <p:nvPr/>
        </p:nvSpPr>
        <p:spPr>
          <a:xfrm>
            <a:off x="566928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Vorm.ai</a:t>
            </a:r>
            <a:pPr algn="l" indent="0" marL="0">
              <a:buNone/>
            </a:pPr>
            <a:r>
              <a:rPr lang="en-US" sz="90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AI-põhine treeningkoormuse analüüsija</a:t>
            </a:r>
            <a:endParaRPr lang="en-US" sz="900" dirty="0"/>
          </a:p>
        </p:txBody>
      </p:sp>
      <p:sp>
        <p:nvSpPr>
          <p:cNvPr id="48" name="Text 38"/>
          <p:cNvSpPr/>
          <p:nvPr/>
        </p:nvSpPr>
        <p:spPr>
          <a:xfrm>
            <a:off x="11183112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1291133" cy="310896"/>
          </a:xfrm>
          <a:prstGeom prst="roundRect">
            <a:avLst>
              <a:gd name="adj" fmla="val 50000"/>
            </a:avLst>
          </a:prstGeom>
          <a:solidFill>
            <a:srgbClr val="5FA83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02920"/>
            <a:ext cx="129113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TULEMUSED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868680"/>
            <a:ext cx="11055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430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Mudel langes treeneriga ühte 11 / 14 päeval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2558034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CE3E1"/>
            </a:solidFill>
            <a:prstDash val="solid"/>
          </a:ln>
          <a:effectLst>
            <a:outerShdw sx="100000" sy="100000" kx="0" ky="0" algn="bl" rotWithShape="0" blurRad="114300" dist="38100" dir="8100000">
              <a:srgbClr val="0C2B33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1783080"/>
            <a:ext cx="2558034" cy="109728"/>
          </a:xfrm>
          <a:prstGeom prst="rect">
            <a:avLst/>
          </a:prstGeom>
          <a:solidFill>
            <a:srgbClr val="5FA83A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1993392"/>
            <a:ext cx="23751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FA8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78,6%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94944" y="2651760"/>
            <a:ext cx="23020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praktiliselt sobivaid otsuseid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99282" y="1783080"/>
            <a:ext cx="2558034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CE3E1"/>
            </a:solidFill>
            <a:prstDash val="solid"/>
          </a:ln>
          <a:effectLst>
            <a:outerShdw sx="100000" sy="100000" kx="0" ky="0" algn="bl" rotWithShape="0" blurRad="114300" dist="38100" dir="8100000">
              <a:srgbClr val="0C2B33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99282" y="1783080"/>
            <a:ext cx="2558034" cy="10972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1" name="Text 9"/>
          <p:cNvSpPr/>
          <p:nvPr/>
        </p:nvSpPr>
        <p:spPr>
          <a:xfrm>
            <a:off x="3490722" y="1993392"/>
            <a:ext cx="23751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 / 14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527298" y="2651760"/>
            <a:ext cx="23020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täpne kokkulangevus (match)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31636" y="1783080"/>
            <a:ext cx="2558034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CE3E1"/>
            </a:solidFill>
            <a:prstDash val="solid"/>
          </a:ln>
          <a:effectLst>
            <a:outerShdw sx="100000" sy="100000" kx="0" ky="0" algn="bl" rotWithShape="0" blurRad="114300" dist="38100" dir="8100000">
              <a:srgbClr val="0C2B33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31636" y="1783080"/>
            <a:ext cx="2558034" cy="109728"/>
          </a:xfrm>
          <a:prstGeom prst="rect">
            <a:avLst/>
          </a:prstGeom>
          <a:solidFill>
            <a:srgbClr val="ECA13A"/>
          </a:solidFill>
          <a:ln/>
        </p:spPr>
      </p:sp>
      <p:sp>
        <p:nvSpPr>
          <p:cNvPr id="15" name="Text 13"/>
          <p:cNvSpPr/>
          <p:nvPr/>
        </p:nvSpPr>
        <p:spPr>
          <a:xfrm>
            <a:off x="6323076" y="1993392"/>
            <a:ext cx="23751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CA1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4,1 / 5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359652" y="2651760"/>
            <a:ext cx="23020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keskmine kasulikkus (tagantjärele)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063990" y="1783080"/>
            <a:ext cx="2558034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CE3E1"/>
            </a:solidFill>
            <a:prstDash val="solid"/>
          </a:ln>
          <a:effectLst>
            <a:outerShdw sx="100000" sy="100000" kx="0" ky="0" algn="bl" rotWithShape="0" blurRad="114300" dist="38100" dir="8100000">
              <a:srgbClr val="0C2B33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063990" y="1783080"/>
            <a:ext cx="2558034" cy="109728"/>
          </a:xfrm>
          <a:prstGeom prst="rect">
            <a:avLst/>
          </a:prstGeom>
          <a:solidFill>
            <a:srgbClr val="5FA83A"/>
          </a:solidFill>
          <a:ln/>
        </p:spPr>
      </p:sp>
      <p:sp>
        <p:nvSpPr>
          <p:cNvPr id="19" name="Text 17"/>
          <p:cNvSpPr/>
          <p:nvPr/>
        </p:nvSpPr>
        <p:spPr>
          <a:xfrm>
            <a:off x="9155430" y="1993392"/>
            <a:ext cx="23751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FA8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≥ 70% ✓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9192006" y="2651760"/>
            <a:ext cx="23020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kvantitatiivne eesmärk ületatud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66928" y="3429000"/>
            <a:ext cx="585216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3E1"/>
            </a:solidFill>
            <a:prstDash val="solid"/>
          </a:ln>
          <a:effectLst>
            <a:outerShdw sx="100000" sy="100000" kx="0" ky="0" algn="bl" rotWithShape="0" blurRad="114300" dist="38100" dir="8100000">
              <a:srgbClr val="0C2B33">
                <a:alpha val="1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41248" y="35661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30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Kokkulangevus 14 päeva lõikes</a:t>
            </a:r>
            <a:endParaRPr lang="en-US" sz="1350" dirty="0"/>
          </a:p>
        </p:txBody>
      </p:sp>
      <p:graphicFrame>
        <p:nvGraphicFramePr>
          <p:cNvPr id="23" name="Chart 0" descr=""/>
          <p:cNvGraphicFramePr/>
          <p:nvPr/>
        </p:nvGraphicFramePr>
        <p:xfrm>
          <a:off x="749808" y="3931920"/>
          <a:ext cx="54864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4" name="Shape 21"/>
          <p:cNvSpPr/>
          <p:nvPr/>
        </p:nvSpPr>
        <p:spPr>
          <a:xfrm>
            <a:off x="6784848" y="3429000"/>
            <a:ext cx="4837176" cy="2651760"/>
          </a:xfrm>
          <a:prstGeom prst="roundRect">
            <a:avLst>
              <a:gd name="adj" fmla="val 3448"/>
            </a:avLst>
          </a:prstGeom>
          <a:solidFill>
            <a:srgbClr val="0C2B33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7059168" y="3639312"/>
            <a:ext cx="548640" cy="548640"/>
          </a:xfrm>
          <a:prstGeom prst="ellipse">
            <a:avLst/>
          </a:prstGeom>
          <a:solidFill>
            <a:srgbClr val="9BE564"/>
          </a:solidFill>
          <a:ln/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0842" y="3770986"/>
            <a:ext cx="285293" cy="285293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7699248" y="3675888"/>
            <a:ext cx="3739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BE5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Mida see tähendab</a:t>
            </a:r>
            <a:endParaRPr lang="en-US" sz="1500" dirty="0"/>
          </a:p>
        </p:txBody>
      </p:sp>
      <p:sp>
        <p:nvSpPr>
          <p:cNvPr id="28" name="Shape 24"/>
          <p:cNvSpPr/>
          <p:nvPr/>
        </p:nvSpPr>
        <p:spPr>
          <a:xfrm>
            <a:off x="7104888" y="4279392"/>
            <a:ext cx="109728" cy="109728"/>
          </a:xfrm>
          <a:prstGeom prst="ellipse">
            <a:avLst/>
          </a:prstGeom>
          <a:solidFill>
            <a:srgbClr val="9BE564"/>
          </a:solidFill>
          <a:ln/>
        </p:spPr>
      </p:sp>
      <p:sp>
        <p:nvSpPr>
          <p:cNvPr id="29" name="Text 25"/>
          <p:cNvSpPr/>
          <p:nvPr/>
        </p:nvSpPr>
        <p:spPr>
          <a:xfrm>
            <a:off x="7333488" y="4169664"/>
            <a:ext cx="4014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+ close = 11/14: mudeli praktiline suund kattus treeneriga.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7104888" y="4882896"/>
            <a:ext cx="109728" cy="109728"/>
          </a:xfrm>
          <a:prstGeom prst="ellipse">
            <a:avLst/>
          </a:prstGeom>
          <a:solidFill>
            <a:srgbClr val="9BE564"/>
          </a:solidFill>
          <a:ln/>
        </p:spPr>
      </p:sp>
      <p:sp>
        <p:nvSpPr>
          <p:cNvPr id="31" name="Text 27"/>
          <p:cNvSpPr/>
          <p:nvPr/>
        </p:nvSpPr>
        <p:spPr>
          <a:xfrm>
            <a:off x="7333488" y="4773168"/>
            <a:ext cx="4014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Kõik 3 konflikti olid päevad, kus LLM soovitas treenerist konservatiivsemalt.</a:t>
            </a:r>
            <a:endParaRPr lang="en-US" sz="1200" dirty="0"/>
          </a:p>
        </p:txBody>
      </p:sp>
      <p:sp>
        <p:nvSpPr>
          <p:cNvPr id="32" name="Shape 28"/>
          <p:cNvSpPr/>
          <p:nvPr/>
        </p:nvSpPr>
        <p:spPr>
          <a:xfrm>
            <a:off x="7104888" y="5486400"/>
            <a:ext cx="109728" cy="109728"/>
          </a:xfrm>
          <a:prstGeom prst="ellipse">
            <a:avLst/>
          </a:prstGeom>
          <a:solidFill>
            <a:srgbClr val="9BE564"/>
          </a:solidFill>
          <a:ln/>
        </p:spPr>
      </p:sp>
      <p:sp>
        <p:nvSpPr>
          <p:cNvPr id="33" name="Text 29"/>
          <p:cNvSpPr/>
          <p:nvPr/>
        </p:nvSpPr>
        <p:spPr>
          <a:xfrm>
            <a:off x="7333488" y="5376672"/>
            <a:ext cx="4014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Kõrge kasulikkus ≠ „treenerist parem“ — vaid andmetega põhjendatav.</a:t>
            </a:r>
            <a:endParaRPr lang="en-US" sz="1200" dirty="0"/>
          </a:p>
        </p:txBody>
      </p:sp>
      <p:sp>
        <p:nvSpPr>
          <p:cNvPr id="35" name="Text 30"/>
          <p:cNvSpPr/>
          <p:nvPr/>
        </p:nvSpPr>
        <p:spPr>
          <a:xfrm>
            <a:off x="566928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Vorm.ai</a:t>
            </a:r>
            <a:pPr algn="l" indent="0" marL="0">
              <a:buNone/>
            </a:pPr>
            <a:r>
              <a:rPr lang="en-US" sz="90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AI-põhine treeningkoormuse analüüsija</a:t>
            </a:r>
            <a:endParaRPr lang="en-US" sz="900" dirty="0"/>
          </a:p>
        </p:txBody>
      </p:sp>
      <p:sp>
        <p:nvSpPr>
          <p:cNvPr id="36" name="Text 31"/>
          <p:cNvSpPr/>
          <p:nvPr/>
        </p:nvSpPr>
        <p:spPr>
          <a:xfrm>
            <a:off x="11183112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1587398" cy="310896"/>
          </a:xfrm>
          <a:prstGeom prst="roundRect">
            <a:avLst>
              <a:gd name="adj" fmla="val 50000"/>
            </a:avLst>
          </a:prstGeom>
          <a:solidFill>
            <a:srgbClr val="E5645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02920"/>
            <a:ext cx="158739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FOOKUSJUHTUM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868680"/>
            <a:ext cx="11055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430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20.05 — kus tööriist näitas väärtust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566928" cy="566928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991" y="1919143"/>
            <a:ext cx="294803" cy="29480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50392" y="2350008"/>
            <a:ext cx="0" cy="274320"/>
          </a:xfrm>
          <a:prstGeom prst="line">
            <a:avLst/>
          </a:prstGeom>
          <a:noFill/>
          <a:ln w="25400">
            <a:solidFill>
              <a:srgbClr val="DCE3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344168" y="1801368"/>
            <a:ext cx="5623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Hommik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344168" y="2084832"/>
            <a:ext cx="5623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ACWR 1,36 · eile RPE 8 · uni 6,1 h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66928" y="2624328"/>
            <a:ext cx="566928" cy="566928"/>
          </a:xfrm>
          <a:prstGeom prst="ellipse">
            <a:avLst/>
          </a:prstGeom>
          <a:solidFill>
            <a:srgbClr val="ECA13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991" y="2760391"/>
            <a:ext cx="294803" cy="294803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850392" y="3191256"/>
            <a:ext cx="0" cy="274320"/>
          </a:xfrm>
          <a:prstGeom prst="line">
            <a:avLst/>
          </a:prstGeom>
          <a:noFill/>
          <a:ln w="25400">
            <a:solidFill>
              <a:srgbClr val="DCE3E1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344168" y="2642616"/>
            <a:ext cx="5623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CA1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Vorm.ai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1344168" y="2926080"/>
            <a:ext cx="5623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Soovitus: vähenda intensiivsust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66928" y="3465576"/>
            <a:ext cx="566928" cy="566928"/>
          </a:xfrm>
          <a:prstGeom prst="ellipse">
            <a:avLst/>
          </a:prstGeom>
          <a:solidFill>
            <a:srgbClr val="3E8FB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991" y="3601639"/>
            <a:ext cx="294803" cy="294803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850392" y="4032504"/>
            <a:ext cx="0" cy="274320"/>
          </a:xfrm>
          <a:prstGeom prst="line">
            <a:avLst/>
          </a:prstGeom>
          <a:noFill/>
          <a:ln w="25400">
            <a:solidFill>
              <a:srgbClr val="DCE3E1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1344168" y="3483864"/>
            <a:ext cx="5623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Treener Ille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1344168" y="3767328"/>
            <a:ext cx="5623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Otsus: jätka plaanipäraselt (konkreetne kvaliteettrenn)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566928" y="4306824"/>
            <a:ext cx="566928" cy="566928"/>
          </a:xfrm>
          <a:prstGeom prst="ellipse">
            <a:avLst/>
          </a:prstGeom>
          <a:solidFill>
            <a:srgbClr val="E5645E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991" y="4442887"/>
            <a:ext cx="294803" cy="294803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850392" y="4873752"/>
            <a:ext cx="0" cy="274320"/>
          </a:xfrm>
          <a:prstGeom prst="line">
            <a:avLst/>
          </a:prstGeom>
          <a:noFill/>
          <a:ln w="25400">
            <a:solidFill>
              <a:srgbClr val="DCE3E1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1344168" y="4325112"/>
            <a:ext cx="5623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564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Sportlane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1344168" y="4608576"/>
            <a:ext cx="5623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Järgis treenerit: 6 × 1000 m — viimased kordused rasked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566928" y="5148072"/>
            <a:ext cx="566928" cy="566928"/>
          </a:xfrm>
          <a:prstGeom prst="ellipse">
            <a:avLst/>
          </a:prstGeom>
          <a:solidFill>
            <a:srgbClr val="E5645E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991" y="5284135"/>
            <a:ext cx="294803" cy="29480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344168" y="5166360"/>
            <a:ext cx="5623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564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Järgmine hommik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1344168" y="5449824"/>
            <a:ext cx="5623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Jalad rasked, RPE 9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7242048" y="1783080"/>
            <a:ext cx="4379976" cy="3657600"/>
          </a:xfrm>
          <a:prstGeom prst="roundRect">
            <a:avLst>
              <a:gd name="adj" fmla="val 2500"/>
            </a:avLst>
          </a:prstGeom>
          <a:solidFill>
            <a:srgbClr val="0C2B33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9043416" y="2103120"/>
            <a:ext cx="777240" cy="777240"/>
          </a:xfrm>
          <a:prstGeom prst="ellipse">
            <a:avLst/>
          </a:prstGeom>
          <a:solidFill>
            <a:srgbClr val="9BE564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29954" y="2289658"/>
            <a:ext cx="404165" cy="40416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516368" y="3017520"/>
            <a:ext cx="3831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9BE5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Tööriista roll</a:t>
            </a:r>
            <a:endParaRPr lang="en-US" sz="1700" dirty="0"/>
          </a:p>
        </p:txBody>
      </p:sp>
      <p:sp>
        <p:nvSpPr>
          <p:cNvPr id="33" name="Text 25"/>
          <p:cNvSpPr/>
          <p:nvPr/>
        </p:nvSpPr>
        <p:spPr>
          <a:xfrm>
            <a:off x="7562088" y="3474720"/>
            <a:ext cx="3739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Vorm.ai ei asenda treenerit.</a:t>
            </a:r>
            <a:endParaRPr lang="en-US" sz="1600" dirty="0"/>
          </a:p>
        </p:txBody>
      </p:sp>
      <p:sp>
        <p:nvSpPr>
          <p:cNvPr id="34" name="Text 26"/>
          <p:cNvSpPr/>
          <p:nvPr/>
        </p:nvSpPr>
        <p:spPr>
          <a:xfrm>
            <a:off x="7607808" y="3977640"/>
            <a:ext cx="36484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DB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 tõstab esile andmetest tuleva riskisignaali enne, kui sportlane ise plaani muudab — andmepõhise teise arvamusena treeneriplaani kõrval.</a:t>
            </a:r>
            <a:endParaRPr lang="en-US" sz="1300" dirty="0"/>
          </a:p>
        </p:txBody>
      </p:sp>
      <p:sp>
        <p:nvSpPr>
          <p:cNvPr id="36" name="Text 27"/>
          <p:cNvSpPr/>
          <p:nvPr/>
        </p:nvSpPr>
        <p:spPr>
          <a:xfrm>
            <a:off x="566928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Vorm.ai</a:t>
            </a:r>
            <a:pPr algn="l" indent="0" marL="0">
              <a:buNone/>
            </a:pPr>
            <a:r>
              <a:rPr lang="en-US" sz="90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AI-põhine treeningkoormuse analüüsija</a:t>
            </a:r>
            <a:endParaRPr lang="en-US" sz="900" dirty="0"/>
          </a:p>
        </p:txBody>
      </p:sp>
      <p:sp>
        <p:nvSpPr>
          <p:cNvPr id="37" name="Text 28"/>
          <p:cNvSpPr/>
          <p:nvPr/>
        </p:nvSpPr>
        <p:spPr>
          <a:xfrm>
            <a:off x="11183112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2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40080"/>
            <a:ext cx="1371600" cy="109728"/>
          </a:xfrm>
          <a:prstGeom prst="rect">
            <a:avLst/>
          </a:prstGeom>
          <a:solidFill>
            <a:srgbClr val="9BE564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822960"/>
            <a:ext cx="11055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Kokkuvõte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344668" cy="2331720"/>
          </a:xfrm>
          <a:prstGeom prst="roundRect">
            <a:avLst>
              <a:gd name="adj" fmla="val 3922"/>
            </a:avLst>
          </a:prstGeom>
          <a:solidFill>
            <a:srgbClr val="123A44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993392"/>
            <a:ext cx="530352" cy="530352"/>
          </a:xfrm>
          <a:prstGeom prst="ellipse">
            <a:avLst/>
          </a:prstGeom>
          <a:solidFill>
            <a:srgbClr val="9BE56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8532" y="2120676"/>
            <a:ext cx="275783" cy="2757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81328" y="2029968"/>
            <a:ext cx="42473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9BE5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Eesmärgid täidetud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877824" y="2761488"/>
            <a:ext cx="109728" cy="109728"/>
          </a:xfrm>
          <a:prstGeom prst="ellipse">
            <a:avLst/>
          </a:prstGeom>
          <a:solidFill>
            <a:srgbClr val="9BE564"/>
          </a:solidFill>
          <a:ln/>
        </p:spPr>
      </p:sp>
      <p:sp>
        <p:nvSpPr>
          <p:cNvPr id="9" name="Text 6"/>
          <p:cNvSpPr/>
          <p:nvPr/>
        </p:nvSpPr>
        <p:spPr>
          <a:xfrm>
            <a:off x="1115568" y="2651760"/>
            <a:ext cx="45674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Kvantitatiivne ≥ 70% → 78,6%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77824" y="3218688"/>
            <a:ext cx="109728" cy="109728"/>
          </a:xfrm>
          <a:prstGeom prst="ellipse">
            <a:avLst/>
          </a:prstGeom>
          <a:solidFill>
            <a:srgbClr val="9BE564"/>
          </a:solidFill>
          <a:ln/>
        </p:spPr>
      </p:sp>
      <p:sp>
        <p:nvSpPr>
          <p:cNvPr id="11" name="Text 8"/>
          <p:cNvSpPr/>
          <p:nvPr/>
        </p:nvSpPr>
        <p:spPr>
          <a:xfrm>
            <a:off x="1115568" y="3108960"/>
            <a:ext cx="45674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Otsast-otsa pipeline töötab päris andmetel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77824" y="3675888"/>
            <a:ext cx="109728" cy="109728"/>
          </a:xfrm>
          <a:prstGeom prst="ellipse">
            <a:avLst/>
          </a:prstGeom>
          <a:solidFill>
            <a:srgbClr val="9BE564"/>
          </a:solidFill>
          <a:ln/>
        </p:spPr>
      </p:sp>
      <p:sp>
        <p:nvSpPr>
          <p:cNvPr id="13" name="Text 10"/>
          <p:cNvSpPr/>
          <p:nvPr/>
        </p:nvSpPr>
        <p:spPr>
          <a:xfrm>
            <a:off x="1115568" y="3566160"/>
            <a:ext cx="45674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Mitme kasutaja tugi + treener-sportlane seos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277356" y="1783080"/>
            <a:ext cx="5344668" cy="2331720"/>
          </a:xfrm>
          <a:prstGeom prst="roundRect">
            <a:avLst>
              <a:gd name="adj" fmla="val 3922"/>
            </a:avLst>
          </a:prstGeom>
          <a:solidFill>
            <a:srgbClr val="123A44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551676" y="1993392"/>
            <a:ext cx="530352" cy="530352"/>
          </a:xfrm>
          <a:prstGeom prst="ellipse">
            <a:avLst/>
          </a:prstGeom>
          <a:solidFill>
            <a:srgbClr val="ECA13A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8960" y="2120676"/>
            <a:ext cx="275783" cy="275783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191756" y="2029968"/>
            <a:ext cx="42473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CA1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Ausad piirangud</a:t>
            </a:r>
            <a:endParaRPr lang="en-US" sz="1550" dirty="0"/>
          </a:p>
        </p:txBody>
      </p:sp>
      <p:sp>
        <p:nvSpPr>
          <p:cNvPr id="18" name="Shape 14"/>
          <p:cNvSpPr/>
          <p:nvPr/>
        </p:nvSpPr>
        <p:spPr>
          <a:xfrm>
            <a:off x="6588252" y="2761488"/>
            <a:ext cx="109728" cy="109728"/>
          </a:xfrm>
          <a:prstGeom prst="ellipse">
            <a:avLst/>
          </a:prstGeom>
          <a:solidFill>
            <a:srgbClr val="ECA13A"/>
          </a:solidFill>
          <a:ln/>
        </p:spPr>
      </p:sp>
      <p:sp>
        <p:nvSpPr>
          <p:cNvPr id="19" name="Text 15"/>
          <p:cNvSpPr/>
          <p:nvPr/>
        </p:nvSpPr>
        <p:spPr>
          <a:xfrm>
            <a:off x="6825996" y="2651760"/>
            <a:ext cx="45674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Väike valim: 1 sportlane + 1 treener, 14 päeva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6588252" y="3236976"/>
            <a:ext cx="109728" cy="109728"/>
          </a:xfrm>
          <a:prstGeom prst="ellipse">
            <a:avLst/>
          </a:prstGeom>
          <a:solidFill>
            <a:srgbClr val="ECA13A"/>
          </a:solidFill>
          <a:ln/>
        </p:spPr>
      </p:sp>
      <p:sp>
        <p:nvSpPr>
          <p:cNvPr id="21" name="Text 17"/>
          <p:cNvSpPr/>
          <p:nvPr/>
        </p:nvSpPr>
        <p:spPr>
          <a:xfrm>
            <a:off x="6825996" y="3127248"/>
            <a:ext cx="45674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Kasulikkuse hinne on tagantjäreline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6588252" y="3712464"/>
            <a:ext cx="109728" cy="109728"/>
          </a:xfrm>
          <a:prstGeom prst="ellipse">
            <a:avLst/>
          </a:prstGeom>
          <a:solidFill>
            <a:srgbClr val="ECA13A"/>
          </a:solidFill>
          <a:ln/>
        </p:spPr>
      </p:sp>
      <p:sp>
        <p:nvSpPr>
          <p:cNvPr id="23" name="Text 19"/>
          <p:cNvSpPr/>
          <p:nvPr/>
        </p:nvSpPr>
        <p:spPr>
          <a:xfrm>
            <a:off x="6825996" y="3602736"/>
            <a:ext cx="45674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Treener teab konteksti (periodiseering), mida mudel ei tea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566928" y="4343400"/>
            <a:ext cx="11055096" cy="1417320"/>
          </a:xfrm>
          <a:prstGeom prst="roundRect">
            <a:avLst>
              <a:gd name="adj" fmla="val 6452"/>
            </a:avLst>
          </a:prstGeom>
          <a:solidFill>
            <a:srgbClr val="0A242B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566928" y="4343400"/>
            <a:ext cx="128016" cy="1417320"/>
          </a:xfrm>
          <a:prstGeom prst="rect">
            <a:avLst/>
          </a:prstGeom>
          <a:solidFill>
            <a:srgbClr val="9BE564"/>
          </a:solidFill>
          <a:ln/>
        </p:spPr>
      </p:sp>
      <p:sp>
        <p:nvSpPr>
          <p:cNvPr id="26" name="Text 22"/>
          <p:cNvSpPr/>
          <p:nvPr/>
        </p:nvSpPr>
        <p:spPr>
          <a:xfrm>
            <a:off x="978408" y="4343400"/>
            <a:ext cx="1032357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9BE5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Sõnum:  </a:t>
            </a:r>
            <a:pPr algn="l" indent="0" marL="0">
              <a:lnSpc>
                <a:spcPct val="110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 soovitus oli konfliktses kohas pigem õige — kuid väärtus pole treeneri asendamine, vaid andmepõhine riskisignaal tema plaani kõrval.</a:t>
            </a:r>
            <a:endParaRPr lang="en-US" sz="1650" dirty="0"/>
          </a:p>
        </p:txBody>
      </p:sp>
      <p:sp>
        <p:nvSpPr>
          <p:cNvPr id="27" name="Text 23"/>
          <p:cNvSpPr/>
          <p:nvPr/>
        </p:nvSpPr>
        <p:spPr>
          <a:xfrm>
            <a:off x="566928" y="5897880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9DB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Edasi:  </a:t>
            </a:r>
            <a:pPr algn="l" indent="0" marL="0">
              <a:buNone/>
            </a:pPr>
            <a:r>
              <a:rPr lang="en-US" sz="1250" dirty="0">
                <a:solidFill>
                  <a:srgbClr val="9DB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rohkem kasutajaid ja suurem valim · prognoosimudeli täpsustamine · pikem reaalkasutus.</a:t>
            </a:r>
            <a:endParaRPr lang="en-US" sz="1250" dirty="0"/>
          </a:p>
        </p:txBody>
      </p:sp>
      <p:sp>
        <p:nvSpPr>
          <p:cNvPr id="28" name="Text 24"/>
          <p:cNvSpPr/>
          <p:nvPr/>
        </p:nvSpPr>
        <p:spPr>
          <a:xfrm>
            <a:off x="8348472" y="58978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9BE5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Aitäh!  Küsimused?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Vorm.ai — lõppesitlus</dc:title>
  <dc:subject>PptxGenJS Presentation</dc:subject>
  <dc:creator>Uku Renek Kronbergs</dc:creator>
  <cp:lastModifiedBy>Uku Renek Kronbergs</cp:lastModifiedBy>
  <cp:revision>1</cp:revision>
  <dcterms:created xsi:type="dcterms:W3CDTF">2026-05-29T20:37:38Z</dcterms:created>
  <dcterms:modified xsi:type="dcterms:W3CDTF">2026-05-29T20:37:38Z</dcterms:modified>
</cp:coreProperties>
</file>